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各位评委好，我们的作品是「基于多 Agent 的汽车销售自主成交智能助手」。它面向汽车销售全流程，构建覆盖线索获取、需求分析、成交促进、售后运营与知识沉淀的多 Agent 自主销售闭环，技术体系由 Multi-Agent、Skill、MCP、RAG 与可观测五大支柱组成。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传统汽车销售有四大痛点：线索分散难统一、客户画像靠人工、销售流程割裂、优秀经验难沉淀，最终导致线索流失率高、成交周期长、销售效率低。底部给出四个量化改进方向：线索响应从人工小时级到分钟级聚合分级，经验复用率从 0 到案例自动入库，流程从各自为政到端到端推进，成交周期通过低风险动作自动执行压缩等待。（注：现状为行业普遍情况描述，复赛将以真实接入数据沉淀量化基线。）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总体方案是一个五段式自主成交闭环：线索获取、需求分析、成交促进、售后运营、知识沉淀，知识沉淀会回流反哺策略生成。闭环之下是五大技术支柱：Multi-Agent 协同、Skill 能力抽象、MCP 工具连接、RAG 知识增强和全链路可观测。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系统设计了 8 个职能 Agent，覆盖从线索到成交再到知识沉淀的全链路。拆分不是过度设计，而是两个工程理由：一是单一职责，二是风险边界隔离——比如议价 Agent 即使被话术注入，也不具备订单确认权限，高风险动作始终在独立 Agent 与审批门禁之后。编排映射到 AgentTeams 分层架构：Manager 创建 Worker 与 TeamLeader，TeamLeader 在 Team 房间拆解任务并调度 Worker，人可随时 @mention 介入。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这一页用 DEAL-2001（家庭 SUV）场景时间线展示任务级自主闭环的七个关键动作，每步标注执行 Agent 与风险等级：L0 只读、L1 低风险自动执行、L2 审批门禁。低风险动作自动执行，超授权优惠立即停止并转审批，订单幂等可回滚，成交案例脱敏沉淀为 RAG 证据。另外两个场景（首购金融 DEAL-2002、置换复购 DEAL-2003）同样通过全部断言，三场景合计 36/36，详见代码包 docs/EVIDENCE.md 与 docs/selfcheck_report.txt。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评审红线：AgentTeams 不是提名字就行，必须看到角色编排、任务拆解、上下文传递怎么落到框架能力上。本页给出六维映射：角色编排=create_agent/create_team 分层；任务拆解=TeamLeader 指令分解；上下文传递=Matrix Room + TeamHarness；协同执行=Worker 运行时 + 工具网关；状态追踪=Event/Status + Nacos 状态回写；人机协同=Human-in-the-loop 审批与介入。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 是本方案的必选能力层。生态上我们是双层结构：基础云能力直接复用阿里云官方用云 Skills，不重复构建；业务层把线索归并、画像构建、意图识别、车型推荐、报价优惠、议价风控、试驾预约、金融方案、订单执行、案例沉淀、记忆检索 11 个关键能力沉淀为自研可复用 Skill，每个都按 10 字段模板定义，并通过 Nacos AI Registry 做版本管理与灰度发布。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是工具连接层：Agent 和 Skill 通过 MCP 标准协议统一连接 CRM、库存 DMS、金融审批、保险、合同与企业微信。Higress 作为统一 AI 网关提供鉴权、路由、限流与观测，协议层内置 Schema、审计、重试、幂等与降级策略，工具调用链按「工具.函数」命名空间组织，迁移 MCP Server 仅需协议适配，不重构调用链。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覆盖四类知识源：产品知识、销售 SOP、历史成交案例和补贴政策。机制上由 MCP 接入数据源，Skill 封装检索与证据对齐，Agent 判断证据是否足以支撑决策，并坚持证据边界：没有证据支持的事实一律不编造。方案覆盖 RAG 4 项能力中的「Agent 记忆存储」（客户历史时间窗口+语义检索）与「知识库 RAG」（案例向量化检索），存储层可由 PolarDB 承载，支持时间窗口查询与向量语义检索。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可观测覆盖四类对象：Agent 推理轨迹、Skill 调用、MCP 工具执行和 RAG 检索，沉淀 Trace、Log、Metrics 三类数据（遵循 OpenTelemetry GenAI 语义），支撑在线监控告警、离线量化评估（LLM-as-Judge / 规则评估）与 badcase 复盘迭代。技术路线：开源采用 LoongSuite + AgentScope Studio，生产可迁移阿里云 AgentLoop。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推荐工具链按需利用：Nacos AI Registry 做 Agent/Skill/Prompt 治理与灰度发布，Higress 做统一网关（鉴权/路由/限流/观测），PolarDB 做向量与审计存储，RocketMQ 做事件驱动与状态流转，可观测采用 LoongSuite + AgentScope Studio 或 AgentLoop，阿里云官方用云 Skills 承载基础云能力。评审重点是设计理念、接口契约、可替换性与权限边界，而非堆叠数量。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创新点在于：这不是问答机器人，而是能自主推进成交的 AI 销售助手，并且把 Skill、MCP、RAG、可观测融合成能力抽象—工具连接—知识增强—持续优化的完整技术闭环。模块化与标准化设计让它可快速接入企业系统，并迁移到房地产、保险、高端零售等场景。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初赛已完成：mock 工具网关（9 类工具、3 场景）、8 Agent + 11 Skill 完整材料、3 场景端到端业务闭环（审批/回滚/议价底线/案例入库），36/36 断言全部通过并落盘为运行证据；证据索引见代码包 docs/EVIDENCE.md，含每场景 Trace ≥10 条、L2 审批、回滚与底线转人工用例。复赛计划：MCP 真实系统接入、AgentTeams 实际部署演示、全链路可观测与评估回流、量化指标沉淀。我们如实声明边界：初赛是 mock 环境的任务级自主闭环，会话级自由对话与生产级风控留给复赛。让 AI 不止于回答，而是自主推进每一次成交。谢谢！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640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234440"/>
            <a:ext cx="3291840" cy="42062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32918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  <a:ea typeface="Microsoft YaHei"/>
              </a:rPr>
              <a:t>Agent Infra 赛道 · 初赛方案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F2937"/>
                </a:solidFill>
                <a:latin typeface="Microsoft YaHei"/>
                <a:ea typeface="Microsoft YaHei"/>
              </a:rPr>
              <a:t>基于多 Agent 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40AF"/>
                </a:solidFill>
                <a:latin typeface="Microsoft YaHei"/>
                <a:ea typeface="Microsoft YaHei"/>
              </a:rPr>
              <a:t>汽车销售自主成交智能助手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703320"/>
            <a:ext cx="2011680" cy="45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931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</a:rPr>
              <a:t>覆盖「线索获取 — 需求分析 — 成交促进 — 售后运营 — 知识沉淀」的自主销售闭环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00600"/>
            <a:ext cx="1234440" cy="402336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800600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  <a:ea typeface="Microsoft YaHei"/>
              </a:rPr>
              <a:t>Multi-Agent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58568" y="4800600"/>
            <a:ext cx="1234440" cy="402336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58568" y="4800600"/>
            <a:ext cx="1234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  <a:ea typeface="Microsoft YaHei"/>
              </a:rPr>
              <a:t>Skill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94176" y="4800600"/>
            <a:ext cx="960120" cy="402336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4176" y="4800600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  <a:ea typeface="Microsoft YaHei"/>
              </a:rPr>
              <a:t>MCP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55464" y="4800600"/>
            <a:ext cx="960120" cy="402336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5464" y="4800600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  <a:ea typeface="Microsoft YaHei"/>
              </a:rPr>
              <a:t>RAG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16752" y="4800600"/>
            <a:ext cx="960120" cy="402336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16752" y="4800600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  <a:ea typeface="Microsoft YaHei"/>
              </a:rPr>
              <a:t>可观测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SalesFlow 团队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2937"/>
                </a:solidFill>
                <a:latin typeface="Microsoft YaHei"/>
                <a:ea typeface="Microsoft YaHei"/>
              </a:rPr>
              <a:t>行业痛点：传统汽车销售的效率困局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285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932688"/>
            <a:ext cx="1234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10512" y="932688"/>
            <a:ext cx="256032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Microsoft YaHei"/>
                <a:ea typeface="Microsoft YaHei"/>
              </a:rPr>
              <a:t>传统汽车销售高度依赖人工经验，客户咨询分散在官网、微信、电话、短视频平台、门店等多个渠道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269748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" y="1746504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1719072"/>
            <a:ext cx="3840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728216"/>
            <a:ext cx="180136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线索分散难统一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2112264"/>
            <a:ext cx="2295144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咨询分散在官网、微信、电话、短视频、门店等渠道，线索无法统一管理，跟进易遗漏。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6704" y="1600200"/>
            <a:ext cx="269748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11296" y="1746504"/>
            <a:ext cx="82296" cy="2743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8" y="1719072"/>
            <a:ext cx="3840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8224" y="1728216"/>
            <a:ext cx="180136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客户画像靠人工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112264"/>
            <a:ext cx="2295144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需求识别与画像构建依赖销售个人经验，判断慢、口径不一，难以形成统一客户视图。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1600200"/>
            <a:ext cx="269748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79" y="1746504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1719072"/>
            <a:ext cx="3840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45309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2008" y="1728216"/>
            <a:ext cx="180136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销售流程割裂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112264"/>
            <a:ext cx="2295144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车型推荐、优惠报价、试驾预约、金融方案各自为政，缺少一体化推进与状态跟踪。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34272" y="1600200"/>
            <a:ext cx="269748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98863" y="1746504"/>
            <a:ext cx="82296" cy="2743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3455" y="1719072"/>
            <a:ext cx="3840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E40A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5791" y="1728216"/>
            <a:ext cx="180136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优秀经验难沉淀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3728" y="2112264"/>
            <a:ext cx="2295144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成功案例与金牌话术留在个人手里，无法复用与传承，新人培养周期长。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977639"/>
            <a:ext cx="11183112" cy="914400"/>
          </a:xfrm>
          <a:prstGeom prst="roundRect">
            <a:avLst>
              <a:gd name="adj" fmla="val 7000"/>
            </a:avLst>
          </a:prstGeom>
          <a:solidFill>
            <a:srgbClr val="FFFBEB"/>
          </a:solidFill>
          <a:ln w="12700">
            <a:solidFill>
              <a:srgbClr val="F3D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977639"/>
            <a:ext cx="111831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45309"/>
                </a:solidFill>
                <a:latin typeface="Microsoft YaHei"/>
                <a:ea typeface="Microsoft YaHei"/>
              </a:rPr>
              <a:t>业务后果：</a:t>
            </a:r>
            <a:r>
              <a:rPr sz="1500" b="1">
                <a:solidFill>
                  <a:srgbClr val="B45309"/>
                </a:solidFill>
                <a:latin typeface="Microsoft YaHei"/>
                <a:ea typeface="Microsoft YaHei"/>
              </a:rPr>
              <a:t>线索流失率高    ·    成交周期长    ·    销售效率低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2697480" cy="12984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" y="51206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</a:rPr>
              <a:t>线索响应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5413248"/>
            <a:ext cx="239572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Microsoft YaHei"/>
                <a:ea typeface="Microsoft YaHei"/>
              </a:rPr>
              <a:t>现状 人工跟进小时级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766E"/>
                </a:solidFill>
                <a:latin typeface="Microsoft YaHei"/>
                <a:ea typeface="Microsoft YaHei"/>
              </a:rPr>
              <a:t>目标 多 Agent 分钟级聚合分级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46704" y="5029200"/>
            <a:ext cx="2697480" cy="12984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11296" y="51206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</a:rPr>
              <a:t>经验复用率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11296" y="5413248"/>
            <a:ext cx="239572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Microsoft YaHei"/>
                <a:ea typeface="Microsoft YaHei"/>
              </a:rPr>
              <a:t>现状 金牌话术≈0%（留在个人手里）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766E"/>
                </a:solidFill>
                <a:latin typeface="Microsoft YaHei"/>
                <a:ea typeface="Microsoft YaHei"/>
              </a:rPr>
              <a:t>目标 成交案例自动入库可检索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0488" y="5029200"/>
            <a:ext cx="2697480" cy="12984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79" y="51206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</a:rPr>
              <a:t>流程衔接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79" y="5413248"/>
            <a:ext cx="239572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Microsoft YaHei"/>
                <a:ea typeface="Microsoft YaHei"/>
              </a:rPr>
              <a:t>现状 推荐/报价/试驾/金融各自为政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766E"/>
                </a:solidFill>
                <a:latin typeface="Microsoft YaHei"/>
                <a:ea typeface="Microsoft YaHei"/>
              </a:rPr>
              <a:t>目标 一个 Team 房间端到端推进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34272" y="5029200"/>
            <a:ext cx="2697480" cy="12984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51206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</a:rPr>
              <a:t>成交周期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98864" y="5413248"/>
            <a:ext cx="239572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Microsoft YaHei"/>
                <a:ea typeface="Microsoft YaHei"/>
              </a:rPr>
              <a:t>现状 多环节人工等待串联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766E"/>
                </a:solidFill>
                <a:latin typeface="Microsoft YaHei"/>
                <a:ea typeface="Microsoft YaHei"/>
              </a:rPr>
              <a:t>目标 低风险动作自动执行压缩等待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2937"/>
                </a:solidFill>
                <a:latin typeface="Microsoft YaHei"/>
                <a:ea typeface="Microsoft YaHei"/>
              </a:rPr>
              <a:t>总体方案：Multi-Agent 自主成交闭环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285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932688"/>
            <a:ext cx="1234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10512" y="932688"/>
            <a:ext cx="256032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Microsoft YaHei"/>
                <a:ea typeface="Microsoft YaHei"/>
              </a:rPr>
              <a:t>围绕汽车销售全生命周期构建自主决策系统：Multi-Agent + Skill + MCP + RAG + 可观测</a:t>
            </a:r>
          </a:p>
        </p:txBody>
      </p:sp>
      <p:sp>
        <p:nvSpPr>
          <p:cNvPr id="9" name="Chevron 8"/>
          <p:cNvSpPr/>
          <p:nvPr/>
        </p:nvSpPr>
        <p:spPr>
          <a:xfrm>
            <a:off x="502920" y="1691640"/>
            <a:ext cx="2395728" cy="1234440"/>
          </a:xfrm>
          <a:prstGeom prst="chevron">
            <a:avLst/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E40AF"/>
                </a:solidFill>
                <a:latin typeface="Microsoft YaHei"/>
                <a:ea typeface="Microsoft YaHei"/>
              </a:rPr>
              <a:t>线索获取</a:t>
            </a:r>
          </a:p>
          <a:p>
            <a:pPr algn="ctr"/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多渠道线索 · 聚合与分级</a:t>
            </a:r>
          </a:p>
        </p:txBody>
      </p:sp>
      <p:sp>
        <p:nvSpPr>
          <p:cNvPr id="10" name="Chevron 9"/>
          <p:cNvSpPr/>
          <p:nvPr/>
        </p:nvSpPr>
        <p:spPr>
          <a:xfrm>
            <a:off x="3008376" y="1691640"/>
            <a:ext cx="2395728" cy="1234440"/>
          </a:xfrm>
          <a:prstGeom prst="chevron">
            <a:avLst/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0F766E"/>
                </a:solidFill>
                <a:latin typeface="Microsoft YaHei"/>
                <a:ea typeface="Microsoft YaHei"/>
              </a:rPr>
              <a:t>需求分析</a:t>
            </a:r>
          </a:p>
          <a:p>
            <a:pPr algn="ctr"/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画像构建 · 意图识别</a:t>
            </a:r>
          </a:p>
        </p:txBody>
      </p:sp>
      <p:sp>
        <p:nvSpPr>
          <p:cNvPr id="11" name="Chevron 10"/>
          <p:cNvSpPr/>
          <p:nvPr/>
        </p:nvSpPr>
        <p:spPr>
          <a:xfrm>
            <a:off x="5513832" y="1691640"/>
            <a:ext cx="2395728" cy="1234440"/>
          </a:xfrm>
          <a:prstGeom prst="chevron">
            <a:avLst/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E40AF"/>
                </a:solidFill>
                <a:latin typeface="Microsoft YaHei"/>
                <a:ea typeface="Microsoft YaHei"/>
              </a:rPr>
              <a:t>成交促进</a:t>
            </a:r>
          </a:p>
          <a:p>
            <a:pPr algn="ctr"/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策略生成 · 议价 · 试驾 · 金融</a:t>
            </a:r>
          </a:p>
        </p:txBody>
      </p:sp>
      <p:sp>
        <p:nvSpPr>
          <p:cNvPr id="12" name="Chevron 11"/>
          <p:cNvSpPr/>
          <p:nvPr/>
        </p:nvSpPr>
        <p:spPr>
          <a:xfrm>
            <a:off x="8019288" y="1691640"/>
            <a:ext cx="2395728" cy="1234440"/>
          </a:xfrm>
          <a:prstGeom prst="chevron">
            <a:avLst/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0F766E"/>
                </a:solidFill>
                <a:latin typeface="Microsoft YaHei"/>
                <a:ea typeface="Microsoft YaHei"/>
              </a:rPr>
              <a:t>售后运营</a:t>
            </a:r>
          </a:p>
          <a:p>
            <a:pPr algn="ctr"/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交付关怀 · 复购 · 转介绍</a:t>
            </a:r>
          </a:p>
        </p:txBody>
      </p:sp>
      <p:sp>
        <p:nvSpPr>
          <p:cNvPr id="13" name="Chevron 12"/>
          <p:cNvSpPr/>
          <p:nvPr/>
        </p:nvSpPr>
        <p:spPr>
          <a:xfrm>
            <a:off x="10524744" y="1691640"/>
            <a:ext cx="2395728" cy="1234440"/>
          </a:xfrm>
          <a:prstGeom prst="chevron">
            <a:avLst/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E40AF"/>
                </a:solidFill>
                <a:latin typeface="Microsoft YaHei"/>
                <a:ea typeface="Microsoft YaHei"/>
              </a:rPr>
              <a:t>知识沉淀</a:t>
            </a:r>
          </a:p>
          <a:p>
            <a:pPr algn="ctr"/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案例与话术 · 入库回流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127248"/>
            <a:ext cx="6126480" cy="420624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9525">
            <a:solidFill>
              <a:srgbClr val="F3D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B45309"/>
                </a:solidFill>
                <a:latin typeface="Microsoft YaHei"/>
                <a:ea typeface="Microsoft YaHei"/>
              </a:rPr>
              <a:t>↺  经验回流：成功案例与话术沉淀后反哺策略生成，持续优化决策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886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五大技术支柱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97680"/>
            <a:ext cx="2176272" cy="1600200"/>
          </a:xfrm>
          <a:prstGeom prst="roundRect">
            <a:avLst>
              <a:gd name="adj" fmla="val 7000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4462272"/>
            <a:ext cx="1883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</a:rPr>
              <a:t>Multi-Agent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4864608"/>
            <a:ext cx="18836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多职能 Agent 协同决策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端到端任务闭环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88920" y="4297680"/>
            <a:ext cx="2176272" cy="1600200"/>
          </a:xfrm>
          <a:prstGeom prst="roundRect">
            <a:avLst>
              <a:gd name="adj" fmla="val 7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35224" y="4462272"/>
            <a:ext cx="1883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</a:rPr>
              <a:t>Skill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5224" y="4864608"/>
            <a:ext cx="18836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销售能力抽象层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可复用 · 可版本化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4297680"/>
            <a:ext cx="2176272" cy="1600200"/>
          </a:xfrm>
          <a:prstGeom prst="roundRect">
            <a:avLst>
              <a:gd name="adj" fmla="val 7000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1224" y="4462272"/>
            <a:ext cx="1883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E40AF"/>
                </a:solidFill>
                <a:latin typeface="Microsoft YaHei"/>
                <a:ea typeface="Microsoft YaHei"/>
              </a:rPr>
              <a:t>MCP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1224" y="4864608"/>
            <a:ext cx="18836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标准协议连接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企业系统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920" y="4297680"/>
            <a:ext cx="2176272" cy="1600200"/>
          </a:xfrm>
          <a:prstGeom prst="roundRect">
            <a:avLst>
              <a:gd name="adj" fmla="val 7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07224" y="4462272"/>
            <a:ext cx="1883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</a:rPr>
              <a:t>RAG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07224" y="4864608"/>
            <a:ext cx="18836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知识与案例检索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可信决策依据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46920" y="4297680"/>
            <a:ext cx="2176272" cy="1600200"/>
          </a:xfrm>
          <a:prstGeom prst="roundRect">
            <a:avLst>
              <a:gd name="adj" fmla="val 7000"/>
            </a:avLst>
          </a:prstGeom>
          <a:solidFill>
            <a:srgbClr val="FFFBE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93224" y="4462272"/>
            <a:ext cx="1883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45309"/>
                </a:solidFill>
                <a:latin typeface="Microsoft YaHei"/>
                <a:ea typeface="Microsoft YaHei"/>
              </a:rPr>
              <a:t>可观测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93224" y="4864608"/>
            <a:ext cx="18836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全链路轨迹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持续评估优化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2937"/>
                </a:solidFill>
                <a:latin typeface="Microsoft YaHei"/>
                <a:ea typeface="Microsoft YaHei"/>
              </a:rPr>
              <a:t>多 Agent 分工：8 大职能 Agent + 统一编排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285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932688"/>
            <a:ext cx="1234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10512" y="932688"/>
            <a:ext cx="256032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Microsoft YaHei"/>
                <a:ea typeface="Microsoft YaHei"/>
              </a:rPr>
              <a:t>每个 Agent 具备清晰身份定义与能力边界，通过协作完成端到端销售任务闭环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2697480" cy="13167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" y="1627632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1609344"/>
            <a:ext cx="220370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线索聚合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1993392"/>
            <a:ext cx="2295144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多渠道线索归集、清洗、去重与分级，形成统一线索池。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46704" y="1481328"/>
            <a:ext cx="2697480" cy="13167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1296" y="1627632"/>
            <a:ext cx="82296" cy="2743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5888" y="1609344"/>
            <a:ext cx="22037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客户画像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1993392"/>
            <a:ext cx="2295144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构建客户需求、偏好、预算与决策角色画像。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0488" y="1481328"/>
            <a:ext cx="2697480" cy="13167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79" y="1627632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609344"/>
            <a:ext cx="22037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购车意图识别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1993392"/>
            <a:ext cx="2295144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识别购车阶段与关键决策信号，判断跟进优先级。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4272" y="1481328"/>
            <a:ext cx="2697480" cy="13167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98864" y="1627632"/>
            <a:ext cx="82296" cy="2743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63456" y="1609344"/>
            <a:ext cx="220370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销售策略生成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1993392"/>
            <a:ext cx="2295144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制定个性化跟进策略与成交路径。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2944368"/>
            <a:ext cx="2697480" cy="13167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7512" y="3090672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" y="3072384"/>
            <a:ext cx="220370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智能议价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456432"/>
            <a:ext cx="2295144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在授权范围内智能议价与优惠匹配。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46704" y="2944368"/>
            <a:ext cx="2697480" cy="13167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11296" y="3090672"/>
            <a:ext cx="82296" cy="2743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75888" y="3072384"/>
            <a:ext cx="22037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订单执行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456432"/>
            <a:ext cx="2295144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订单、合同、交付流程自动推进与跟踪。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0488" y="2944368"/>
            <a:ext cx="2697480" cy="13167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55079" y="3090672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9672" y="3072384"/>
            <a:ext cx="22037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客户运营 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9944" y="3456432"/>
            <a:ext cx="2295144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售后关怀、复购激活与转介绍运营。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34272" y="2944368"/>
            <a:ext cx="2697480" cy="13167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98864" y="3090672"/>
            <a:ext cx="82296" cy="2743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63456" y="3072384"/>
            <a:ext cx="220370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知识沉淀 Agent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3456432"/>
            <a:ext cx="2295144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成功案例与优秀话术自动提炼入库。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4517136"/>
            <a:ext cx="11183112" cy="475488"/>
          </a:xfrm>
          <a:prstGeom prst="roundRect">
            <a:avLst>
              <a:gd name="adj" fmla="val 7000"/>
            </a:avLst>
          </a:prstGeom>
          <a:solidFill>
            <a:srgbClr val="FFFBEB"/>
          </a:solidFill>
          <a:ln w="9525">
            <a:solidFill>
              <a:srgbClr val="F3D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4517136"/>
            <a:ext cx="10789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45309"/>
                </a:solidFill>
                <a:latin typeface="Microsoft YaHei"/>
                <a:ea typeface="Microsoft YaHei"/>
              </a:rPr>
              <a:t>为什么拆成 8 个 Agent：</a:t>
            </a:r>
            <a:r>
              <a:rPr sz="1050" b="0">
                <a:solidFill>
                  <a:srgbClr val="B45309"/>
                </a:solidFill>
                <a:latin typeface="Microsoft YaHei"/>
                <a:ea typeface="Microsoft YaHei"/>
              </a:rPr>
              <a:t>单一职责 + 风险边界隔离——议价 Agent 被注入话术也没有订单确认权；每个 Agent 独立承载附录 A 8 字段，可单独评估、灰度与替换。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102352"/>
            <a:ext cx="11183112" cy="1060704"/>
          </a:xfrm>
          <a:prstGeom prst="roundRect">
            <a:avLst>
              <a:gd name="adj" fmla="val 7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E40AF"/>
                </a:solidFill>
                <a:latin typeface="Microsoft YaHei"/>
                <a:ea typeface="Microsoft YaHei"/>
              </a:rPr>
              <a:t>编排基点：AgentTeams（分层架构 Manager → TeamLeader → Worker）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Manager 创建 8 个职能 Worker 与独立 TeamLeader Worker（carsales-demo-leader），在 Team 房间接收任务；TeamLeader 拆解调度，Worker 专注执行，Human-in-the-loop 随时可介入。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2937"/>
                </a:solidFill>
                <a:latin typeface="Microsoft YaHei"/>
                <a:ea typeface="Microsoft YaHei"/>
              </a:rPr>
              <a:t>Demo 场景时间线：DEAL-2001 家庭 SUV 成交之旅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285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932688"/>
            <a:ext cx="1234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10512" y="932688"/>
            <a:ext cx="256032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Microsoft YaHei"/>
                <a:ea typeface="Microsoft YaHei"/>
              </a:rPr>
              <a:t>以 family_suv_deal 场景展示任务级自主闭环（3 场景全部通过 selfcheck 56/56 断言）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81328"/>
            <a:ext cx="777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766E"/>
                </a:solidFill>
                <a:latin typeface="Microsoft YaHei"/>
                <a:ea typeface="Microsoft YaHei"/>
              </a:rPr>
              <a:t>L0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1481328"/>
            <a:ext cx="10268712" cy="5486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17320" y="1481328"/>
            <a:ext cx="64008" cy="5486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517904"/>
            <a:ext cx="23317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① 任务输入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1517904"/>
            <a:ext cx="5074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官网+企微+电话 3 渠道归并为 1 条线索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1517904"/>
            <a:ext cx="2377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563EB"/>
                </a:solidFill>
                <a:latin typeface="Microsoft YaHei"/>
                <a:ea typeface="Microsoft YaHei"/>
              </a:rPr>
              <a:t>lead-intake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139696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139696"/>
            <a:ext cx="777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766E"/>
                </a:solidFill>
                <a:latin typeface="Microsoft YaHei"/>
                <a:ea typeface="Microsoft YaHei"/>
              </a:rPr>
              <a:t>L0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17320" y="2139696"/>
            <a:ext cx="10268712" cy="5486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17320" y="2139696"/>
            <a:ext cx="64008" cy="5486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2176272"/>
            <a:ext cx="23317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② 画像与意图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2176272"/>
            <a:ext cx="5074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二胎家庭 · 预算 25-28 万 · 置信度+证据引用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176272"/>
            <a:ext cx="2377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563EB"/>
                </a:solidFill>
                <a:latin typeface="Microsoft YaHei"/>
                <a:ea typeface="Microsoft YaHei"/>
              </a:rPr>
              <a:t>profile-builder / intent-analyst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2798063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798063"/>
            <a:ext cx="777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5309"/>
                </a:solidFill>
                <a:latin typeface="Microsoft YaHei"/>
                <a:ea typeface="Microsoft YaHei"/>
              </a:rPr>
              <a:t>L0-L1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17320" y="2798063"/>
            <a:ext cx="10268712" cy="5486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17320" y="2798063"/>
            <a:ext cx="64008" cy="5486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2834639"/>
            <a:ext cx="23317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③ 策略生成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2834639"/>
            <a:ext cx="5074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理想 L7 / 问界 M7 对比矩阵 · 库存核验 · 报价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834639"/>
            <a:ext cx="2377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563EB"/>
                </a:solidFill>
                <a:latin typeface="Microsoft YaHei"/>
                <a:ea typeface="Microsoft YaHei"/>
              </a:rPr>
              <a:t>strategy-planner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456431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456431"/>
            <a:ext cx="777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766E"/>
                </a:solidFill>
                <a:latin typeface="Microsoft YaHei"/>
                <a:ea typeface="Microsoft YaHei"/>
              </a:rPr>
              <a:t>L1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17320" y="3456431"/>
            <a:ext cx="10268712" cy="5486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17320" y="3456431"/>
            <a:ext cx="64008" cy="5486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7632" y="3493007"/>
            <a:ext cx="23317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④ 自动执行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0" y="3493007"/>
            <a:ext cx="5074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试驾预约自动成功 · 授权内优惠自动应用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3493007"/>
            <a:ext cx="2377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563EB"/>
                </a:solidFill>
                <a:latin typeface="Microsoft YaHei"/>
                <a:ea typeface="Microsoft YaHei"/>
              </a:rPr>
              <a:t>negotiation-executor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4114799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114799"/>
            <a:ext cx="777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5309"/>
                </a:solidFill>
                <a:latin typeface="Microsoft YaHei"/>
                <a:ea typeface="Microsoft YaHei"/>
              </a:rPr>
              <a:t>L2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17320" y="4114799"/>
            <a:ext cx="10268712" cy="5486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417320" y="4114799"/>
            <a:ext cx="64008" cy="5486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27632" y="4151375"/>
            <a:ext cx="23317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⑤ 审批门禁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360" y="4151375"/>
            <a:ext cx="5074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超授权优惠停止放行 → discount_override 审批任务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9720" y="4151375"/>
            <a:ext cx="2377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563EB"/>
                </a:solidFill>
                <a:latin typeface="Microsoft YaHei"/>
                <a:ea typeface="Microsoft YaHei"/>
              </a:rPr>
              <a:t>negotiation-guard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4773167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FFFBE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4773167"/>
            <a:ext cx="777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5309"/>
                </a:solidFill>
                <a:latin typeface="Microsoft YaHei"/>
                <a:ea typeface="Microsoft YaHei"/>
              </a:rPr>
              <a:t>L2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17320" y="4773167"/>
            <a:ext cx="10268712" cy="5486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417320" y="4773167"/>
            <a:ext cx="64008" cy="5486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27632" y="4809743"/>
            <a:ext cx="23317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⑥ 安全订单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23360" y="4809743"/>
            <a:ext cx="5074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幂等键创建订单草稿 · 驳回可回滚 · check_deal 验证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89720" y="4809743"/>
            <a:ext cx="2377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563EB"/>
                </a:solidFill>
                <a:latin typeface="Microsoft YaHei"/>
                <a:ea typeface="Microsoft YaHei"/>
              </a:rPr>
              <a:t>order-executor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431535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5431535"/>
            <a:ext cx="777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766E"/>
                </a:solidFill>
                <a:latin typeface="Microsoft YaHei"/>
                <a:ea typeface="Microsoft YaHei"/>
              </a:rPr>
              <a:t>L0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17320" y="5431535"/>
            <a:ext cx="10268712" cy="5486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417320" y="5431535"/>
            <a:ext cx="64008" cy="5486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27632" y="5468111"/>
            <a:ext cx="23317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⑦ 经验沉淀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23360" y="5468111"/>
            <a:ext cx="5074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成交案例脱敏入库 · RAG 可检索 · Trace ≥10 条留痕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89720" y="5468111"/>
            <a:ext cx="2377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563EB"/>
                </a:solidFill>
                <a:latin typeface="Microsoft YaHei"/>
                <a:ea typeface="Microsoft YaHei"/>
              </a:rPr>
              <a:t>knowledge-miner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05 / 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" y="590000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>
                <a:solidFill>
                  <a:srgbClr val="64748B"/>
                </a:solidFill>
                <a:latin typeface="Microsoft YaHei"/>
              </a:defRPr>
            </a:pPr>
            <a:r>
              <a:t>Agent → Skill 映射：lead-intake→lead-fusion / profile-builder→profile-building / intent-analyst→intent-scoring / strategy-planner→car-recommendation+quote-pricing / negotiation-executor→negotiation-guard / order-executor→order-safe-execute / knowledge-miner→case-mining+deal-memory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2937"/>
                </a:solidFill>
                <a:latin typeface="Microsoft YaHei"/>
                <a:ea typeface="Microsoft YaHei"/>
              </a:rPr>
              <a:t>AgentTeams 协同设计基点：框架能力映射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285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AGENTTEAMS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932688"/>
            <a:ext cx="1234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10512" y="932688"/>
            <a:ext cx="256032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Microsoft YaHei"/>
                <a:ea typeface="Microsoft YaHei"/>
              </a:rPr>
              <a:t>角色编排、任务拆解、上下文传递、协同执行与状态追踪全部落到 AgentTeams 框架能力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481328"/>
          <a:ext cx="11183112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71432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协同环节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AgentTeams 框架能力映射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角色编排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Manager 通过 create_agent 串行创建 8 个职能 Worker + 独立 TeamLeader Worker（carsales-demo-leader），create_team 组建 carsales-demo Team，对应框架 Manager → TeamLeader → Worker 分层语义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任务拆解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用户在 Team 房间 @team_leader_name 提交销售任务；TeamLeader 按任务特性拆解并调度对应 Worker（按需调用），对应框架 TeamLeader 的指令分解与任务分配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上下文传递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Agent 间经 Matrix Room 事件流传递任务上下文与中间结论（画像/分级/策略/报价/审批状态），对应框架 Matrix 协作架构 + TeamHarness 的 Team/Room/Task 上下文语义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协同执行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Worker 运行时（QwenPaw）调用各自 Skill 与工具网关执行，低风险自动、高风险审批，对应框架 TeamHarness 统一协作协议（Event/Status、File/Tool 引用）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状态追踪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线索/订单/审批状态经工具网关写入 Trace 与 actions，TeamLeader 汇总闭环报告，对应框架 Event/Status 任务事件与状态 + Nacos AI Registry 实例状态回写（Desired → Applied → Status）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人机协同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高风险动作（超授权优惠 L2 / 征信 L2 / 订单确认 L2 / 合同 L3）人工审批与回滚，任何时刻可 @mention 介入，对应框架 Human-in-the-loop 设计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2937"/>
                </a:solidFill>
                <a:latin typeface="Microsoft YaHei"/>
                <a:ea typeface="Microsoft YaHei"/>
              </a:rPr>
              <a:t>Skill 体系：可复用的销售能力抽象层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285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SKILLS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932688"/>
            <a:ext cx="1234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10512" y="932688"/>
            <a:ext cx="256032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Microsoft YaHei"/>
                <a:ea typeface="Microsoft YaHei"/>
              </a:rPr>
              <a:t>Skill 作为任务能力抽象层：明确输入输出、调用条件、依赖工具、失败处理与安全边界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444752"/>
          <a:ext cx="11183112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691640"/>
                <a:gridCol w="2377440"/>
                <a:gridCol w="2926080"/>
                <a:gridCol w="2496312"/>
              </a:tblGrid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Skill 名称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用途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输入 / 输出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失败处理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lead-fusion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线索归并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多渠道会话合并去重分级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输入：会话列表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输出：合并线索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缺客户 ID 启发式归并转人工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profile-building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画像构建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结构化画像 + 置信度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输入：会话 + 历史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输出：画像 + 证据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历史为空置信度上限 0.6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intent-scoring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意图识别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信号字典打分与分级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输入：画像 + 信号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输出：意向度 + 优先级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信号不足降级 nurture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car-recommendation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车型推荐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按画像匹配候选车型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输入：画像 + 库存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输出：对比矩阵 + 理由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知识不足不编造参数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quote-pricing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报价优惠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政策内报价与优惠审批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输入：政策 + 客户等级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输出：报价单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超授权自动转 L2 审批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negotiation-guard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议价风控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让步轨迹与底线守护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输入：报价 + 已让步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输出：让步决策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触底即停转人工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test-drive-booking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试驾预约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档期查询预约与回滚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输入：客户 + 门店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输出：预约单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失败重试推荐替代档期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finance-plan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金融方案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方案对比与征信审批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输入：成交价 + 期数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输出：方案对比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未授权不发起征信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order-safe-execute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订单执行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幂等 + 审批门禁 + 回滚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输入：报价 + 确认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输出：订单状态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审批驳回回滚草稿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case-mining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案例沉淀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闭环复盘脱敏入库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输入：报告 + Trace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输出：结构化案例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证据不足仅沉淀摘要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957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deal-memory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记忆检索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案例 + 客户记忆 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输入：查询 + 客户 ID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输出：Top-N 证据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检索失败降级标注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907024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2937"/>
                </a:solidFill>
                <a:latin typeface="Microsoft YaHei"/>
                <a:ea typeface="Microsoft YaHei"/>
              </a:rPr>
              <a:t>双层 Skill 结构：</a:t>
            </a: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基础云能力复用阿里云官方用云 Skills（模型调用 / 短信触达 / 证据归档）不重复造轮子；业务层自研 11 个 Skill 聚焦销售场景。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766E"/>
                </a:solidFill>
                <a:latin typeface="Microsoft YaHei"/>
                <a:ea typeface="Microsoft YaHei"/>
              </a:rPr>
              <a:t>复用价值：每个 Skill 按 10 字段模板定义（含调用条件 / 依赖工具 / 权限与安全 / 复用价值），可跨 Agent、跨场景复用，支持版本化与灰度发布（Nacos AI Registry）。（完整定义见附录 B）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2937"/>
                </a:solidFill>
                <a:latin typeface="Microsoft YaHei"/>
                <a:ea typeface="Microsoft YaHei"/>
              </a:rPr>
              <a:t>MCP 工具集成：统一连接企业系统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285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932688"/>
            <a:ext cx="1234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10512" y="932688"/>
            <a:ext cx="256032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Microsoft YaHei"/>
                <a:ea typeface="Microsoft YaHei"/>
              </a:rPr>
              <a:t>Skill 承担任务能力抽象层，MCP 承担工具连接层，Higress 承担统一网关治理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2834640" cy="3108960"/>
          </a:xfrm>
          <a:prstGeom prst="roundRect">
            <a:avLst>
              <a:gd name="adj" fmla="val 7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28800"/>
            <a:ext cx="24688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E40AF"/>
                </a:solidFill>
                <a:latin typeface="Microsoft YaHei"/>
                <a:ea typeface="Microsoft YaHei"/>
              </a:rPr>
              <a:t>Agent / Skill 层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· 能力抽象与任务编排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· 按 Skill 契约调用工具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· 不感知具体系统实现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456432" y="3017520"/>
            <a:ext cx="566928" cy="457200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33087" y="1691640"/>
            <a:ext cx="3931920" cy="3108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5968" y="1828800"/>
            <a:ext cx="35661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E40AF"/>
                </a:solidFill>
                <a:latin typeface="Microsoft YaHei"/>
                <a:ea typeface="Microsoft YaHei"/>
              </a:rPr>
              <a:t>Higress AI 网关 + MCP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· 统一入口 · 鉴权 · 路由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· 限流（防工具滥用）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· 参数 Schema / 返回结构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· 审计日志 · 失败重试 · 幂等控制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183879" y="3017520"/>
            <a:ext cx="566928" cy="457200"/>
          </a:xfrm>
          <a:prstGeom prst="rightArrow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869680" y="1691640"/>
            <a:ext cx="2816352" cy="3108960"/>
          </a:xfrm>
          <a:prstGeom prst="roundRect">
            <a:avLst>
              <a:gd name="adj" fmla="val 7000"/>
            </a:avLst>
          </a:prstGeom>
          <a:solidFill>
            <a:srgbClr val="ECFDF5"/>
          </a:solidFill>
          <a:ln w="1524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182880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Microsoft YaHei"/>
                <a:ea typeface="Microsoft YaHei"/>
              </a:rPr>
              <a:t>企业系统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2286000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0" y="2286000"/>
            <a:ext cx="1188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</a:rPr>
              <a:t>CRM 客户关系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51008" y="2286000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51008" y="2286000"/>
            <a:ext cx="1188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</a:rPr>
              <a:t>库存 / DMS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2852928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2852928"/>
            <a:ext cx="1188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</a:rPr>
              <a:t>金融审批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51008" y="2852928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51008" y="2852928"/>
            <a:ext cx="1188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</a:rPr>
              <a:t>保险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3419856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3419856"/>
            <a:ext cx="1188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</a:rPr>
              <a:t>合同系统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351008" y="3419856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51008" y="3419856"/>
            <a:ext cx="1188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</a:rPr>
              <a:t>企业微信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120640"/>
            <a:ext cx="11183112" cy="96012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120640"/>
            <a:ext cx="107899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接口契约标准化：</a:t>
            </a: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工具定义名称、调用入口、参数 Schema、返回结构、权限范围与审计记录；工具调用链按「工具.函数」命名空间组织并预置 future_mcp_mapping，迁移 MCP Server 仅需协议适配，业务 Skill 与 Agent 零改动。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2937"/>
                </a:solidFill>
                <a:latin typeface="Microsoft YaHei"/>
                <a:ea typeface="Microsoft YaHei"/>
              </a:rPr>
              <a:t>RAG 知识增强：为销售决策提供可信依据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285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RAG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932688"/>
            <a:ext cx="1234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10512" y="932688"/>
            <a:ext cx="256032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Microsoft YaHei"/>
                <a:ea typeface="Microsoft YaHei"/>
              </a:rPr>
              <a:t>RAG 作为 Agent、Skill、MCP 调用链中的上下文能力，回答与决策只依据检索证据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269748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00200"/>
            <a:ext cx="26974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828800"/>
            <a:ext cx="2331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F2937"/>
                </a:solidFill>
                <a:latin typeface="Microsoft YaHei"/>
                <a:ea typeface="Microsoft YaHei"/>
              </a:rPr>
              <a:t>产品知识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车型 / 配置 / 竞品对比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6704" y="1600200"/>
            <a:ext cx="269748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46704" y="1600200"/>
            <a:ext cx="2697480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1828800"/>
            <a:ext cx="2331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F2937"/>
                </a:solidFill>
                <a:latin typeface="Microsoft YaHei"/>
                <a:ea typeface="Microsoft YaHei"/>
              </a:rPr>
              <a:t>销售 SOP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流程规范 / 标准话术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600200"/>
            <a:ext cx="269748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600200"/>
            <a:ext cx="2697480" cy="82296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1828800"/>
            <a:ext cx="2331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F2937"/>
                </a:solidFill>
                <a:latin typeface="Microsoft YaHei"/>
                <a:ea typeface="Microsoft YaHei"/>
              </a:rPr>
              <a:t>历史成交案例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成功路径 / 议价经验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34272" y="1600200"/>
            <a:ext cx="269748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34272" y="1600200"/>
            <a:ext cx="2697480" cy="822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17152" y="1828800"/>
            <a:ext cx="2331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F2937"/>
                </a:solidFill>
                <a:latin typeface="Microsoft YaHei"/>
                <a:ea typeface="Microsoft YaHei"/>
              </a:rPr>
              <a:t>补贴与政策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优惠 / 金融 / 置换政策</a:t>
            </a:r>
          </a:p>
        </p:txBody>
      </p:sp>
      <p:sp>
        <p:nvSpPr>
          <p:cNvPr id="21" name="Chevron 20"/>
          <p:cNvSpPr/>
          <p:nvPr/>
        </p:nvSpPr>
        <p:spPr>
          <a:xfrm>
            <a:off x="1051560" y="3611880"/>
            <a:ext cx="2788920" cy="1051560"/>
          </a:xfrm>
          <a:prstGeom prst="chevron">
            <a:avLst/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  <a:ea typeface="Microsoft YaHei"/>
              </a:rPr>
              <a:t>MCP 接入数据源</a:t>
            </a:r>
          </a:p>
          <a:p>
            <a:pPr algn="ctr"/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连接知识库与业务数据</a:t>
            </a:r>
          </a:p>
        </p:txBody>
      </p:sp>
      <p:sp>
        <p:nvSpPr>
          <p:cNvPr id="22" name="Chevron 21"/>
          <p:cNvSpPr/>
          <p:nvPr/>
        </p:nvSpPr>
        <p:spPr>
          <a:xfrm>
            <a:off x="4754879" y="3611880"/>
            <a:ext cx="2788920" cy="1051560"/>
          </a:xfrm>
          <a:prstGeom prst="chevron">
            <a:avLst/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  <a:ea typeface="Microsoft YaHei"/>
              </a:rPr>
              <a:t>Skill 封装检索</a:t>
            </a:r>
          </a:p>
          <a:p>
            <a:pPr algn="ctr"/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证据对齐与结果写入</a:t>
            </a:r>
          </a:p>
        </p:txBody>
      </p:sp>
      <p:sp>
        <p:nvSpPr>
          <p:cNvPr id="23" name="Chevron 22"/>
          <p:cNvSpPr/>
          <p:nvPr/>
        </p:nvSpPr>
        <p:spPr>
          <a:xfrm>
            <a:off x="8458200" y="3611880"/>
            <a:ext cx="2788920" cy="1051560"/>
          </a:xfrm>
          <a:prstGeom prst="chevron">
            <a:avLst/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0F766E"/>
                </a:solidFill>
                <a:latin typeface="Microsoft YaHei"/>
                <a:ea typeface="Microsoft YaHei"/>
              </a:rPr>
              <a:t>Agent 判断决策</a:t>
            </a:r>
          </a:p>
          <a:p>
            <a:pPr algn="ctr"/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评估证据是否足以支撑结论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74920"/>
            <a:ext cx="11183112" cy="960120"/>
          </a:xfrm>
          <a:prstGeom prst="roundRect">
            <a:avLst>
              <a:gd name="adj" fmla="val 7000"/>
            </a:avLst>
          </a:prstGeom>
          <a:solidFill>
            <a:srgbClr val="FFFBEB"/>
          </a:solidFill>
          <a:ln w="9525">
            <a:solidFill>
              <a:srgbClr val="F3D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74920"/>
            <a:ext cx="107899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B45309"/>
                </a:solidFill>
                <a:latin typeface="Microsoft YaHei"/>
                <a:ea typeface="Microsoft YaHei"/>
              </a:rPr>
              <a:t>证据边界：</a:t>
            </a:r>
            <a:r>
              <a:rPr sz="1200" b="0">
                <a:solidFill>
                  <a:srgbClr val="B45309"/>
                </a:solidFill>
                <a:latin typeface="Microsoft YaHei"/>
                <a:ea typeface="Microsoft YaHei"/>
              </a:rPr>
              <a:t>回答与决策只依据检索到的证据；未被真实来源支持的事实（价格、库存、政策）一律不编造；检索失败时明确降级而不是猜测。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2937"/>
                </a:solidFill>
                <a:latin typeface="Microsoft YaHei"/>
                <a:ea typeface="Microsoft YaHei"/>
              </a:rPr>
              <a:t>全链路可观测：持续评估与优化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285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OBSERVABILITY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932688"/>
            <a:ext cx="1234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10512" y="932688"/>
            <a:ext cx="256032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Microsoft YaHei"/>
                <a:ea typeface="Microsoft YaHei"/>
              </a:rPr>
              <a:t>覆盖 Agent 推理、Skill 调用、工具执行与 RAG 检索的全链路推理轨迹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2697480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" y="1719072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1700784"/>
            <a:ext cx="21945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Agent 推理轨迹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1214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意图识别 / 策略生成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的推理过程留痕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46704" y="1554480"/>
            <a:ext cx="2697480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1296" y="1719072"/>
            <a:ext cx="82296" cy="2743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5888" y="1700784"/>
            <a:ext cx="21945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Skill 调用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1214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调用条件 · 输入输出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成功率与耗时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0488" y="1554480"/>
            <a:ext cx="2697480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79" y="1719072"/>
            <a:ext cx="82296" cy="2743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00784"/>
            <a:ext cx="21945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MCP 工具执行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1214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企业系统调用审计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异常与降级记录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4272" y="1554480"/>
            <a:ext cx="2697480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98864" y="1719072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63456" y="1700784"/>
            <a:ext cx="21945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RAG 检索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1214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检索命中与证据引用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回答可溯源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310128"/>
            <a:ext cx="5440680" cy="2286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474720"/>
            <a:ext cx="5029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数据类型（OTel GenAI 语义）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· Trace：Agent / Skill / MCP / RAG / LLM Span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· Log：决策依据 / 失败原因 / 权限与审批事件（TraceId 关联）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· Metrics：会话数 / 时延 / Token 消耗 / 工具成功率
· Audit：高风险动作结构化轨迹（append-only，TraceId 关联，可按 approval_id 筛选）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5352" y="3310128"/>
            <a:ext cx="5440680" cy="2286000"/>
          </a:xfrm>
          <a:prstGeom prst="roundRect">
            <a:avLst>
              <a:gd name="adj" fmla="val 7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474720"/>
            <a:ext cx="5029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F766E"/>
                </a:solidFill>
                <a:latin typeface="Microsoft YaHei"/>
                <a:ea typeface="Microsoft YaHei"/>
              </a:rPr>
              <a:t>应用场景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· 在线监控与告警：异常链路实时发现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· 离线评估：LLM-as-Judge / 规则评估量化效果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· 评估结果回流 Dataset，驱动 Prompt / Skill 迭代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760720"/>
            <a:ext cx="11183112" cy="658368"/>
          </a:xfrm>
          <a:prstGeom prst="roundRect">
            <a:avLst>
              <a:gd name="adj" fmla="val 7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760720"/>
            <a:ext cx="107899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40AF"/>
                </a:solidFill>
                <a:latin typeface="Microsoft YaHei"/>
                <a:ea typeface="Microsoft YaHei"/>
              </a:rPr>
              <a:t>落地路线：</a:t>
            </a: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开源自建 LoongSuite + AgentScope Studio（OTel 自动埋点 + 可视化 Trace / Agent 评估）；生产环境平滑迁移阿里云 AgentLoop（Agent-as-a-Judge 持续优化）。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2937"/>
                </a:solidFill>
                <a:latin typeface="Microsoft YaHei"/>
                <a:ea typeface="Microsoft YaHei"/>
              </a:rPr>
              <a:t>推荐工具链：全链路治理架构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285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TOOLCHAIN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932688"/>
            <a:ext cx="1234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10512" y="932688"/>
            <a:ext cx="256032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Microsoft YaHei"/>
                <a:ea typeface="Microsoft YaHei"/>
              </a:rPr>
              <a:t>按需利用推荐工具链，重点在治理设计与接口关系，而非堆叠数量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2697480" cy="2971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00200"/>
            <a:ext cx="2697480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00200"/>
            <a:ext cx="2697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Nacos AI Registry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Microsoft YaHei"/>
                <a:ea typeface="Microsoft YaHei"/>
              </a:rPr>
              <a:t>AI 管理中心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31720"/>
            <a:ext cx="23774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Microsoft YaHei"/>
                <a:ea typeface="Microsoft YaHei"/>
              </a:rPr>
              <a:t>· Agent / Skill / Prompt / MCP 统一注册发现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Microsoft YaHei"/>
                <a:ea typeface="Microsoft YaHei"/>
              </a:rPr>
              <a:t>· 多版本灰度 · 秒级回滚 · 权限隔离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Microsoft YaHei"/>
                <a:ea typeface="Microsoft YaHei"/>
              </a:rPr>
              <a:t>· 案例经审核发布为 Skill 资产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46704" y="1600200"/>
            <a:ext cx="2697480" cy="2971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46704" y="1600200"/>
            <a:ext cx="2697480" cy="56692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6704" y="1600200"/>
            <a:ext cx="2697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Higress AI 网关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Microsoft YaHei"/>
                <a:ea typeface="Microsoft YaHei"/>
              </a:rPr>
              <a:t>统一入口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9584" y="2331720"/>
            <a:ext cx="23774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Microsoft YaHei"/>
                <a:ea typeface="Microsoft YaHei"/>
              </a:rPr>
              <a:t>· 模型 / Agent / 工具调用统一入口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Microsoft YaHei"/>
                <a:ea typeface="Microsoft YaHei"/>
              </a:rPr>
              <a:t>· 鉴权 · 路由 · 限流 · 观测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Microsoft YaHei"/>
                <a:ea typeface="Microsoft YaHei"/>
              </a:rPr>
              <a:t>· 工具级权限边界与密钥隔离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0488" y="1600200"/>
            <a:ext cx="2697480" cy="2971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1600200"/>
            <a:ext cx="2697480" cy="56692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0488" y="1600200"/>
            <a:ext cx="2697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PolarDB 数据层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Microsoft YaHei"/>
                <a:ea typeface="Microsoft YaHei"/>
              </a:rPr>
              <a:t>存储底座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331720"/>
            <a:ext cx="23774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Microsoft YaHei"/>
                <a:ea typeface="Microsoft YaHei"/>
              </a:rPr>
              <a:t>· 向量 / 长记忆 / RAG / 审计日志存储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Microsoft YaHei"/>
                <a:ea typeface="Microsoft YaHei"/>
              </a:rPr>
              <a:t>· 案例与记忆向量化 + 相似度检索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Microsoft YaHei"/>
                <a:ea typeface="Microsoft YaHei"/>
              </a:rPr>
              <a:t>· 接口契约化，可替换性明确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4272" y="1600200"/>
            <a:ext cx="2697480" cy="2971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34272" y="1600200"/>
            <a:ext cx="2697480" cy="5669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34272" y="1600200"/>
            <a:ext cx="2697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RocketMQ 消息队列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Microsoft YaHei"/>
                <a:ea typeface="Microsoft YaHei"/>
              </a:rPr>
              <a:t>事件驱动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2331720"/>
            <a:ext cx="23774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Microsoft YaHei"/>
                <a:ea typeface="Microsoft YaHei"/>
              </a:rPr>
              <a:t>· 审批事件 / 订单状态流转 / 触达任务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Microsoft YaHei"/>
                <a:ea typeface="Microsoft YaHei"/>
              </a:rPr>
              <a:t>· 可靠投递（重试 / 死信）+ 状态幂等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Microsoft YaHei"/>
                <a:ea typeface="Microsoft YaHei"/>
              </a:rPr>
              <a:t>· 执行状态与 TraceId 关联可追踪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46320"/>
            <a:ext cx="11183112" cy="128016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919472"/>
            <a:ext cx="10789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</a:rPr>
              <a:t>阿里云官方用云 Skills：</a:t>
            </a: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复用官方 Skills 承载基础云能力（模型调用 / 短信触达 / 证据归档），业务 Skill 聚焦销售场景；鉴权走 Higress 统一入口，凭证隔离。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</a:rPr>
              <a:t>工具观：</a:t>
            </a: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>每个工具说明必要性、接口契约、可替换性、权限边界与闭环证据，后续迁移成本清晰可评估。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2937"/>
                </a:solidFill>
                <a:latin typeface="Microsoft YaHei"/>
                <a:ea typeface="Microsoft YaHei"/>
              </a:rPr>
              <a:t>创新点与开放复用价值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285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INNOVATION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932688"/>
            <a:ext cx="1234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10512" y="932688"/>
            <a:ext cx="256032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Microsoft YaHei"/>
                <a:ea typeface="Microsoft YaHei"/>
              </a:rPr>
              <a:t>区别于传统智能客服仅回答问题，本方案打造能够自主推进成交的 AI 销售助手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481328"/>
          <a:ext cx="1118311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023360"/>
                <a:gridCol w="5422392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传统智能客服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本方案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定位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问答机器人，被动回答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自主推进成交的 AI 销售助手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能力边界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咨询问答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策略生成 / 智能议价 / 试驾预约 / 订单执行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经验积累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依赖人工总结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成功案例自动沉淀，回流优化决策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技术架构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475569"/>
                          </a:solidFill>
                          <a:latin typeface="Microsoft YaHei"/>
                          <a:ea typeface="Microsoft YaHei"/>
                        </a:rPr>
                        <a:t>单体机器人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Multi-Agent + Skill + MCP + RAG + 可观测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422452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开放 / 复用价值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617720"/>
            <a:ext cx="3639312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" y="4764024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4745736"/>
            <a:ext cx="314553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模块化设计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5129783"/>
            <a:ext cx="3236976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Skill 能力可独立复用，MCP 接口遵循标准化协议，可快速接入 CRM / ERP / DMS / 金融 / 保险系统。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4617720"/>
            <a:ext cx="3639312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62272" y="4764024"/>
            <a:ext cx="82296" cy="2743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4745736"/>
            <a:ext cx="314553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跨行业迁移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5129783"/>
            <a:ext cx="3236976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闭环范式可迁移至房地产、保险、金融产品、高端零售等复杂销售场景。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4617720"/>
            <a:ext cx="3639312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2" y="4764024"/>
            <a:ext cx="82296" cy="2743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1624" y="4745736"/>
            <a:ext cx="314553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开源计划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5129783"/>
            <a:ext cx="3236976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开源 Skill 清单、MCP 接口契约与示例场景，作为企业智能销售平台基础能力持续扩展。三个 LLM 自主决策点（审批门禁 approve/reject/pending + 车型推荐匹配度评估 + 工具调用顺序自主规划），决策与执行分离 + append-only 审计是高风险销售场景的通用风控范式。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2937"/>
                </a:solidFill>
                <a:latin typeface="Microsoft YaHei"/>
                <a:ea typeface="Microsoft YaHei"/>
              </a:rPr>
              <a:t>初赛实现边界与复赛计划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2855" y="384048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932688"/>
            <a:ext cx="1234440" cy="411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10512" y="932688"/>
            <a:ext cx="256032" cy="411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Microsoft YaHei"/>
                <a:ea typeface="Microsoft YaHei"/>
              </a:rPr>
              <a:t>初赛 V0.2：可信方案设计 + 可复现自检证据；复赛 V0.5：真实接入与运行验证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5532120" cy="2880360"/>
          </a:xfrm>
          <a:prstGeom prst="roundRect">
            <a:avLst>
              <a:gd name="adj" fmla="val 7000"/>
            </a:avLst>
          </a:prstGeom>
          <a:solidFill>
            <a:srgbClr val="ECFDF5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00200"/>
            <a:ext cx="5532120" cy="5120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00200"/>
            <a:ext cx="55321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初赛已实现 · V0.2（证据可复现）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286000"/>
            <a:ext cx="50292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✓ 8 Agent（附录 A 8 字段）+ 11 Skill（附录 B 10 字段）+ AgentTeams 真框架 3 场景一天全闭环（11 容器 v1.1.2 · 8/16 单日）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✓ HTTP mock 工具网关：22 工具(9 类) · 3 场景 · MCP 等价契约 + 三个 LLM 决策点(审批门禁+车型推荐+工具调用顺序)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✓ 3 场景端到端业务闭环：审批 / 回滚 / 议价底线 / 案例入库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✓ 自检 56/56 + 编排 G1/G2/G3 + 三个 LLM 决策点(审批三安全分支+车型推荐+工具顺序) + OTel 运行时 39 span + 重放 95 span + OSS REST 签名验证 + RAG/记忆 + 评估 1.0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✓ AgentTeams 真框架跑通：3 场景全闭环 · 24 DAG 节点全绿 · 116 次工具调用 100% 成功 · 4 类真实故障代码级自愈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1600200"/>
            <a:ext cx="5532120" cy="2880360"/>
          </a:xfrm>
          <a:prstGeom prst="roundRect">
            <a:avLst>
              <a:gd name="adj" fmla="val 7000"/>
            </a:avLst>
          </a:prstGeom>
          <a:solidFill>
            <a:srgbClr val="EFF6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3912" y="1600200"/>
            <a:ext cx="5532120" cy="5120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3912" y="1600200"/>
            <a:ext cx="55321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复赛计划 · V0.5（8.24 晋级后）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2286000"/>
            <a:ext cx="50292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→ MCP Server 替换 mock 适配器：真实 CRM / 库存 / 金融审批接入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→ 多模型路由与调度策略优化 · Agent/Skill/LLM 层可观测 Span 补齐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→ 全链路可观测：LoongSuite / AgentScope Studio + 评估回流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→ 量化指标沉淀：线索转化率 / 成交周期 / 工具成功率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90288"/>
            <a:ext cx="11183112" cy="6035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590288"/>
            <a:ext cx="107899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证据索引（docs/EVIDENCE.md）：自检 56/56 断言 · AgentTeams 真框架 3 场景全闭环（116 次工具调用 100% 成功） · 每场景 Trace ≥10 条 · L2 审批 / 订单回滚 / 底线转人工用例各在环 · 3 场景期望信号表可逐项对照</a:t>
            </a:r>
            <a:r>
              <a:rPr sz="1050" b="0">
                <a:solidFill>
                  <a:srgbClr val="475569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303520"/>
            <a:ext cx="11183112" cy="822960"/>
          </a:xfrm>
          <a:prstGeom prst="roundRect">
            <a:avLst>
              <a:gd name="adj" fmla="val 7000"/>
            </a:avLst>
          </a:prstGeom>
          <a:solidFill>
            <a:srgbClr val="FFFBEB"/>
          </a:solidFill>
          <a:ln w="9525">
            <a:solidFill>
              <a:srgbClr val="F3D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7899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45309"/>
                </a:solidFill>
                <a:latin typeface="Microsoft YaHei"/>
                <a:ea typeface="Microsoft YaHei"/>
              </a:rPr>
              <a:t>边界声明：初赛聚焦 mock 环境任务级自主闭环（方案设计+可复现断言+三个 LLM 决策点已驱动+OTel 运行时插桩+OSS REST 签名验证+AgentTeams 真框架已跑）；会话级自由对话、真实系统接入、生产级风控在复赛推进。</a:t>
            </a:r>
            <a:r>
              <a:rPr sz="1100" b="0">
                <a:solidFill>
                  <a:srgbClr val="B45309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6473952"/>
            <a:ext cx="1118585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SalesFlow · 基于多 Agent 的汽车销售自主成交智能助手 · 初赛方案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347472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Microsoft YaHei"/>
              </a:defRPr>
            </a:pPr>
            <a:r>
              <a:t>安全闭环：L0-L3 风险分级 × 审批门禁 × 回滚 × 审计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2855" y="38404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  <a:latin typeface="Microsoft YaHei"/>
              </a:defRPr>
            </a:pPr>
            <a:r>
              <a:t>SECURITY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1042415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高风险动作禁止默认放行——LLM 自主推理 + 决策与执行分离 + append-only 审计轨迹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502920" y="1554480"/>
          <a:ext cx="5562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560320"/>
                <a:gridCol w="2179320"/>
              </a:tblGrid>
              <a:tr h="32918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风险等级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动作类型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处置策略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6A34A"/>
                          </a:solidFill>
                          <a:latin typeface="Microsoft YaHei"/>
                        </a:defRPr>
                      </a:pPr>
                      <a:r>
                        <a:t>L0 自动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Microsoft YaHei"/>
                        </a:defRPr>
                      </a:pPr>
                      <a:r>
                        <a:t>线索归集 / 画像 / 意图 / 策略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Microsoft YaHei"/>
                        </a:defRPr>
                      </a:pPr>
                      <a:r>
                        <a:t>自动执行，无需审批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891A2"/>
                          </a:solidFill>
                          <a:latin typeface="Microsoft YaHei"/>
                        </a:defRPr>
                      </a:pPr>
                      <a:r>
                        <a:t>L1 通知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Microsoft YaHei"/>
                        </a:defRPr>
                      </a:pPr>
                      <a:r>
                        <a:t>试驾预约 / 优惠匹配(授权内)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Microsoft YaHei"/>
                        </a:defRPr>
                      </a:pPr>
                      <a:r>
                        <a:t>自动执行 + 通知留痕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A580C"/>
                          </a:solidFill>
                          <a:latin typeface="Microsoft YaHei"/>
                        </a:defRPr>
                      </a:pPr>
                      <a:r>
                        <a:t>L2 审批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Microsoft YaHei"/>
                        </a:defRPr>
                      </a:pPr>
                      <a:r>
                        <a:t>超授权优惠 / 征信 / 订单确认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Microsoft YaHei"/>
                        </a:defRPr>
                      </a:pPr>
                      <a:r>
                        <a:t>LLM 审批 approve/reject/pending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DC2626"/>
                          </a:solidFill>
                          <a:latin typeface="Microsoft YaHei"/>
                        </a:defRPr>
                      </a:pPr>
                      <a:r>
                        <a:t>L3 人工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Microsoft YaHei"/>
                        </a:defRPr>
                      </a:pPr>
                      <a:r>
                        <a:t>合同签署 / 大额退款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Microsoft YaHei"/>
                        </a:defRPr>
                      </a:pPr>
                      <a:r>
                        <a:t>人工确认 + 双签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6245352" y="1554480"/>
            <a:ext cx="54406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73952" y="1737360"/>
            <a:ext cx="4983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  <a:latin typeface="Microsoft YaHei"/>
              </a:defRPr>
            </a:pPr>
            <a:r>
              <a:t>三安全分支（端到端验证）</a:t>
            </a:r>
            <a:br/>
            <a:r>
              <a:t>① DEAL-2001 reject → rollback_order（rolled_back）</a:t>
            </a:r>
            <a:br/>
            <a:r>
              <a:t>    超授权优惠 8.5 折→LLM 推理 reject→订单回滚</a:t>
            </a:r>
            <a:br/>
            <a:r>
              <a:t>② DEAL-2002 approve → confirm_order（won）</a:t>
            </a:r>
            <a:br/>
            <a:r>
              <a:t>    征信审批→LLM 推理 approve→订单确认→成交</a:t>
            </a:r>
            <a:br/>
            <a:r>
              <a:t>③ DEAL-2003 pending → human_handoff</a:t>
            </a:r>
            <a:br/>
            <a:r>
              <a:t>    预算未明→LLM 推理 pending→转人工（禁止默认放行）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3310128"/>
            <a:ext cx="556260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3493008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  <a:latin typeface="Microsoft YaHei"/>
              </a:defRPr>
            </a:pPr>
            <a:r>
              <a:t>三个 LLM 自主决策点（百炼 qwen-plus）</a:t>
            </a:r>
            <a:br/>
            <a:r>
              <a:t>① 审批门禁：approve/reject/pending（忠实上下文，不操纵）</a:t>
            </a:r>
            <a:br/>
            <a:r>
              <a:t>② 车型推荐：fit_confidence + risk_flag（DEAL-2002 诚实标 mismatch）</a:t>
            </a:r>
            <a:br/>
            <a:r>
              <a:t>③ 工具调用顺序：4 工具先后由 LLM 自主规划</a:t>
            </a:r>
            <a:br/>
            <a:r>
              <a:t>    DEAL-2003 把 get_policy 提前到 check_stock 之前</a:t>
            </a:r>
            <a:br/>
            <a:r>
              <a:t>decision_source 诚实标注 llm / fallback_config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45352" y="3310128"/>
            <a:ext cx="544068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3952" y="3493008"/>
            <a:ext cx="4983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  <a:latin typeface="Microsoft YaHei"/>
              </a:defRPr>
            </a:pPr>
            <a:r>
              <a:t>append-only 审计轨迹</a:t>
            </a:r>
            <a:br/>
            <a:r>
              <a:t>· 6/4/4 条 action（DEAL-2001/2002/2003）</a:t>
            </a:r>
            <a:br/>
            <a:r>
              <a:t>· 全量 trace_id 关联，可按 approval_id / order_id 筛选</a:t>
            </a:r>
            <a:br/>
            <a:r>
              <a:t>· 重启不丢失（JSONL 持久化 + OSS 归档）</a:t>
            </a:r>
            <a:br/>
            <a:r>
              <a:t>· OTel 运行时 39 span + 重放 95 span（GenAI semconv）</a:t>
            </a:r>
            <a:br/>
            <a:r>
              <a:t>· 决策与执行分离：reject 只标记 rollback_requested</a:t>
            </a:r>
            <a:br/>
            <a:r>
              <a:t>    由执行层显式 rollback_order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4831040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安全设计原则：决策与执行分离 · 高风险禁止默认放行 · 审计 append-only 可回溯 · LLM 忠实上下文不操纵决策方向 · 无 key 降级 fallback_config 仍 ALL PASS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74375" y="65288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