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10"/>
    <p:sldId id="259" r:id="rId11"/>
    <p:sldId id="261" r:id="rId13"/>
    <p:sldId id="262" r:id="rId14"/>
    <p:sldId id="263" r:id="rId15"/>
    <p:sldId id="265" r:id="rId17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7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各位评委好，我们的作品是「基于多 Agent 的汽车销售自主成交智能助手」。它面向汽车销售全流程，构建覆盖线索获取、需求分析、成交促进、售后运营与知识沉淀的多 Agent 自主销售闭环，技术体系由 Multi-Agent、Skill、MCP、RAG 与可观测五大支柱组成。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总体方案是一个五段式自主成交闭环：线索获取、需求分析、成交促进、售后运营、知识沉淀，知识沉淀会回流反哺策略生成。闭环之下是五大技术支柱：Multi-Agent 协同、Skill 能力抽象、MCP 工具连接、RAG 知识增强和全链路可观测。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系统设计了 8 个职能 Agent，覆盖从线索到成交再到知识沉淀的全链路。拆分不是过度设计，而是两个工程理由：一是单一职责，二是风险边界隔离——比如议价 Agent 即使被话术注入，也不具备订单确认权限，高风险动作始终在独立 Agent 与审批门禁之后。编排映射到 AgentTeams 分层架构：Manager 创建 Worker 与 TeamLeader，TeamLeader 在 Team 房间拆解任务并调度 Worker，人可随时 @mention 介入。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评审红线：AgentTeams 不是提名字就行，必须看到角色编排、任务拆解、上下文传递怎么落到框架能力上。本页给出六维映射：角色编排=create_agent/create_team 分层；任务拆解=TeamLeader 指令分解；上下文传递=Matrix Room + TeamHarness；协同执行=Worker 运行时 + 工具网关；状态追踪=Event/Status + Nacos 状态回写；人机协同=Human-in-the-loop 审批与介入。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 是本方案的必选能力层。生态上我们是双层结构：基础云能力直接复用阿里云官方用云 Skills，不重复构建；业务层把线索归并、画像构建、意图识别、车型推荐、报价优惠、议价风控、试驾预约、金融方案、订单执行、案例沉淀、记忆检索 11 个关键能力沉淀为自研可复用 Skill，每个都按 10 字段模板定义，并通过 Nacos AI Registry 做版本管理与灰度发布。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是工具连接层：Agent 和 Skill 通过 MCP 标准协议统一连接 CRM、库存 DMS、金融审批、保险、合同与企业微信。Higress 作为统一 AI 网关提供鉴权、路由、限流与观测，协议层内置 Schema、审计、重试、幂等与降级策略，工具调用链按「工具.函数」命名空间组织，迁移 MCP Server 仅需协议适配，不重构调用链。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可观测覆盖四类对象：Agent 推理轨迹、Skill 调用、MCP 工具执行和 RAG 检索，沉淀 Trace、Log、Metrics 三类数据（遵循 OpenTelemetry GenAI 语义），支撑在线监控告警、离线量化评估（LLM-as-Judge / 规则评估）与 badcase 复盘迭代。技术路线：开源采用 LoongSuite + AgentScope Studio，生产可迁移阿里云 AgentLoop。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初赛已完成：mock 工具网关（9 类工具、3 场景）、8 Agent + 11 Skill 完整材料、3 场景端到端业务闭环（审批/回滚/议价底线/案例入库），36/36 断言全部通过并落盘为运行证据；证据索引见代码包 docs/EVIDENCE.md，含每场景 Trace ≥10 条、L2 审批、回滚与底线转人工用例。复赛计划：MCP 真实系统接入、AgentTeams 实际部署演示、全链路可观测与评估回流、量化指标沉淀。我们如实声明边界：初赛是 mock 环境的任务级自主闭环，会话级自由对话与生产级风控留给复赛。让 AI 不止于回答，而是自主推进每一次成交。谢谢！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640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234440"/>
            <a:ext cx="3291840" cy="42062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32918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</a:rPr>
              <a:t>Agent Infra 赛道 · 初赛方案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F2937"/>
                </a:solidFill>
                <a:latin typeface="Microsoft YaHei"/>
                <a:ea typeface="Microsoft YaHei"/>
              </a:rPr>
              <a:t>基于多 Agent 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40AF"/>
                </a:solidFill>
                <a:latin typeface="Microsoft YaHei"/>
                <a:ea typeface="Microsoft YaHei"/>
              </a:rPr>
              <a:t>汽车销售自主成交智能助手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703320"/>
            <a:ext cx="2011680" cy="45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931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</a:rPr>
              <a:t>覆盖「线索获取 — 需求分析 — 成交促进 — 售后运营 — 知识沉淀」的自主销售闭环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00600"/>
            <a:ext cx="1234440" cy="402336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800600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</a:rPr>
              <a:t>Multi-Agent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58568" y="4800600"/>
            <a:ext cx="1234440" cy="402336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4800600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</a:rPr>
              <a:t>Skill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94176" y="4800600"/>
            <a:ext cx="960120" cy="402336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4176" y="4800600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</a:rPr>
              <a:t>MCP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5464" y="4800600"/>
            <a:ext cx="960120" cy="402336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5464" y="4800600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</a:rPr>
              <a:t>RAG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16752" y="4800600"/>
            <a:ext cx="960120" cy="402336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16752" y="4800600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</a:rPr>
              <a:t>可观测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SalesFlow 团队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场景与价值：汽车销售的 AI 机遇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汽车销售 4 大痛点：线索分散 · 画像靠经验 · 报价不统一 · 知识随人走</a:t>
            </a:r>
          </a:p>
        </p:txBody>
      </p:sp>
      <p:sp>
        <p:nvSpPr>
          <p:cNvPr id="9" name="Chevron 8"/>
          <p:cNvSpPr/>
          <p:nvPr/>
        </p:nvSpPr>
        <p:spPr>
          <a:xfrm>
            <a:off x="502920" y="1691640"/>
            <a:ext cx="2395728" cy="1234440"/>
          </a:xfrm>
          <a:prstGeom prst="chevron">
            <a:avLst/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40AF"/>
                </a:solidFill>
                <a:latin typeface="Microsoft YaHei"/>
                <a:ea typeface="Microsoft YaHei"/>
              </a:rPr>
              <a:t>线索获取</a:t>
            </a:r>
          </a:p>
          <a:p>
            <a:pPr algn="ctr"/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多渠道线索 · 聚合与分级</a:t>
            </a:r>
          </a:p>
        </p:txBody>
      </p:sp>
      <p:sp>
        <p:nvSpPr>
          <p:cNvPr id="10" name="Chevron 9"/>
          <p:cNvSpPr/>
          <p:nvPr/>
        </p:nvSpPr>
        <p:spPr>
          <a:xfrm>
            <a:off x="3008376" y="1691640"/>
            <a:ext cx="2395728" cy="1234440"/>
          </a:xfrm>
          <a:prstGeom prst="chevron">
            <a:avLst/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0F766E"/>
                </a:solidFill>
                <a:latin typeface="Microsoft YaHei"/>
                <a:ea typeface="Microsoft YaHei"/>
              </a:rPr>
              <a:t>需求分析</a:t>
            </a:r>
          </a:p>
          <a:p>
            <a:pPr algn="ctr"/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画像构建 · 意图识别</a:t>
            </a:r>
          </a:p>
        </p:txBody>
      </p:sp>
      <p:sp>
        <p:nvSpPr>
          <p:cNvPr id="11" name="Chevron 10"/>
          <p:cNvSpPr/>
          <p:nvPr/>
        </p:nvSpPr>
        <p:spPr>
          <a:xfrm>
            <a:off x="5513832" y="1691640"/>
            <a:ext cx="2395728" cy="1234440"/>
          </a:xfrm>
          <a:prstGeom prst="chevron">
            <a:avLst/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40AF"/>
                </a:solidFill>
                <a:latin typeface="Microsoft YaHei"/>
                <a:ea typeface="Microsoft YaHei"/>
              </a:rPr>
              <a:t>成交促进</a:t>
            </a:r>
          </a:p>
          <a:p>
            <a:pPr algn="ctr"/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策略生成 · 议价 · 试驾 · 金融</a:t>
            </a:r>
          </a:p>
        </p:txBody>
      </p:sp>
      <p:sp>
        <p:nvSpPr>
          <p:cNvPr id="12" name="Chevron 11"/>
          <p:cNvSpPr/>
          <p:nvPr/>
        </p:nvSpPr>
        <p:spPr>
          <a:xfrm>
            <a:off x="8019288" y="1691640"/>
            <a:ext cx="2395728" cy="1234440"/>
          </a:xfrm>
          <a:prstGeom prst="chevron">
            <a:avLst/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0F766E"/>
                </a:solidFill>
                <a:latin typeface="Microsoft YaHei"/>
                <a:ea typeface="Microsoft YaHei"/>
              </a:rPr>
              <a:t>售后运营</a:t>
            </a:r>
          </a:p>
          <a:p>
            <a:pPr algn="ctr"/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交付关怀 · 复购 · 转介绍</a:t>
            </a:r>
          </a:p>
        </p:txBody>
      </p:sp>
      <p:sp>
        <p:nvSpPr>
          <p:cNvPr id="13" name="Chevron 12"/>
          <p:cNvSpPr/>
          <p:nvPr/>
        </p:nvSpPr>
        <p:spPr>
          <a:xfrm>
            <a:off x="10524744" y="1691640"/>
            <a:ext cx="2395728" cy="1234440"/>
          </a:xfrm>
          <a:prstGeom prst="chevron">
            <a:avLst/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40AF"/>
                </a:solidFill>
                <a:latin typeface="Microsoft YaHei"/>
                <a:ea typeface="Microsoft YaHei"/>
              </a:rPr>
              <a:t>知识沉淀</a:t>
            </a:r>
          </a:p>
          <a:p>
            <a:pPr algn="ctr"/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案例与话术 · 入库回流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127248"/>
            <a:ext cx="6126480" cy="420624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9525">
            <a:solidFill>
              <a:srgbClr val="F3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B45309"/>
                </a:solidFill>
                <a:latin typeface="Microsoft YaHei"/>
                <a:ea typeface="Microsoft YaHei"/>
              </a:rPr>
              <a:t>↺  经验回流：成功案例与话术沉淀后反哺策略生成，持续优化决策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886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五大技术支柱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97680"/>
            <a:ext cx="2176272" cy="1600200"/>
          </a:xfrm>
          <a:prstGeom prst="roundRect">
            <a:avLst>
              <a:gd name="adj" fmla="val 7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4462272"/>
            <a:ext cx="1883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</a:rPr>
              <a:t>4 大痛点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4864608"/>
            <a:ext cx="18836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多职能 Agent 协同决策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端到端任务闭环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88920" y="4297680"/>
            <a:ext cx="2176272" cy="1600200"/>
          </a:xfrm>
          <a:prstGeom prst="roundRect">
            <a:avLst>
              <a:gd name="adj" fmla="val 7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35224" y="4462272"/>
            <a:ext cx="1883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</a:rPr>
              <a:t>4 类场景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5224" y="4864608"/>
            <a:ext cx="18836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新客接待 · 首购金融
老客置换 · 复合联动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可复用 · 可版本化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4297680"/>
            <a:ext cx="2176272" cy="1600200"/>
          </a:xfrm>
          <a:prstGeom prst="roundRect">
            <a:avLst>
              <a:gd name="adj" fmla="val 7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1224" y="4462272"/>
            <a:ext cx="1883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40AF"/>
                </a:solidFill>
                <a:latin typeface="Microsoft YaHei"/>
                <a:ea typeface="Microsoft YaHei"/>
              </a:rPr>
              <a:t>业务价值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1224" y="4864608"/>
            <a:ext cx="18836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转化率提升 · 成本降低
风险可控 · 知识沉淀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企业系统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20" y="4297680"/>
            <a:ext cx="2176272" cy="1600200"/>
          </a:xfrm>
          <a:prstGeom prst="roundRect">
            <a:avLst>
              <a:gd name="adj" fmla="val 7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07224" y="4462272"/>
            <a:ext cx="1883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</a:rPr>
              <a:t>行业迁移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07224" y="4864608"/>
            <a:ext cx="18836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房产 · 保险 · 金融
高端零售 · 教育培训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可信决策依据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46920" y="4297680"/>
            <a:ext cx="2176272" cy="1600200"/>
          </a:xfrm>
          <a:prstGeom prst="roundRect">
            <a:avLst>
              <a:gd name="adj" fmla="val 7000"/>
            </a:avLst>
          </a:prstGeom>
          <a:solidFill>
            <a:srgbClr val="FFFBE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93224" y="4462272"/>
            <a:ext cx="1883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45309"/>
                </a:solidFill>
                <a:latin typeface="Microsoft YaHei"/>
                <a:ea typeface="Microsoft YaHei"/>
              </a:rPr>
              <a:t>可观测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93224" y="4864608"/>
            <a:ext cx="18836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全链路轨迹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持续评估优化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方案设计 — 整体架构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8 大职能 Agent 按销售流程分工：线索→画像→意图→策略→议价→订单→运营→知识
AgentTeams 三层编排（Manager→TeamLeader→Worker）· 单一职责 + 风险边界隔离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" y="1627632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609344"/>
            <a:ext cx="22037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线索聚合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199339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多渠道线索归集、清洗、去重与分级，形成统一线索池。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46704" y="148132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1296" y="1627632"/>
            <a:ext cx="82296" cy="2743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5888" y="1609344"/>
            <a:ext cx="22037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客户画像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199339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构建客户需求、偏好、预算与决策角色画像。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148132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79" y="1627632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609344"/>
            <a:ext cx="22037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购车意图识别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199339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识别购车阶段与关键决策信号，判断跟进优先级。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4272" y="148132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4" y="1627632"/>
            <a:ext cx="82296" cy="2743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3456" y="1609344"/>
            <a:ext cx="22037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销售策略生成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199339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制定个性化跟进策略与成交路径。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294436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7512" y="3090672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" y="3072384"/>
            <a:ext cx="22037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智能议价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45643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在授权范围内智能议价与优惠匹配。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46704" y="294436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11296" y="3090672"/>
            <a:ext cx="82296" cy="2743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75888" y="3072384"/>
            <a:ext cx="22037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订单执行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45643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订单、合同、交付流程自动推进与跟踪。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0488" y="294436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55079" y="3090672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9672" y="3072384"/>
            <a:ext cx="22037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客户运营 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9944" y="345643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售后关怀、复购激活与转介绍运营。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34272" y="294436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98864" y="3090672"/>
            <a:ext cx="82296" cy="2743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63456" y="3072384"/>
            <a:ext cx="22037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知识沉淀 Agent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345643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成功案例与优秀话术自动提炼入库。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4517136"/>
            <a:ext cx="11183112" cy="475488"/>
          </a:xfrm>
          <a:prstGeom prst="roundRect">
            <a:avLst>
              <a:gd name="adj" fmla="val 7000"/>
            </a:avLst>
          </a:prstGeom>
          <a:solidFill>
            <a:srgbClr val="FFFBEB"/>
          </a:solidFill>
          <a:ln w="9525">
            <a:solidFill>
              <a:srgbClr val="F3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4517136"/>
            <a:ext cx="10789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45309"/>
                </a:solidFill>
                <a:latin typeface="Microsoft YaHei"/>
                <a:ea typeface="Microsoft YaHei"/>
              </a:rPr>
              <a:t>为什么拆成 8 个 Agent：单一职责 + 风险边界隔离——议价 Agent 没有订单确认权；每个 Agent 可单独评估、灰度与替换</a:t>
            </a:r>
            <a:r>
              <a:rPr sz="1050" b="0">
                <a:solidFill>
                  <a:srgbClr val="B45309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102352"/>
            <a:ext cx="11183112" cy="1060704"/>
          </a:xfrm>
          <a:prstGeom prst="roundRect">
            <a:avLst>
              <a:gd name="adj" fmla="val 7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E40AF"/>
                </a:solidFill>
                <a:latin typeface="Microsoft YaHei"/>
                <a:ea typeface="Microsoft YaHei"/>
              </a:rPr>
              <a:t>编排基点：AgentTeams（分层架构 Manager → TeamLeader → Worker）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Manager 创建 8 个职能 Worker 与独立 TeamLeader Worker（carsales-demo-leader），在 Team 房间接收任务；TeamLeader 拆解调度，Worker 专注执行，Human-in-the-loop 随时可介入。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方案设计 — Agent 协同闭环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COLLABORATION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端到端闭环：线索→画像→意图→策略→议价→订单→运营→知识沉淀
结果验证：87 项断言 · Golden/Badcase 测试 · 异常分支：故障注入 7 用例覆盖降级/重试/隔离/恢复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481328"/>
          <a:ext cx="1118311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71432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协同环节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AgentTeams 框架能力映射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角色编排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Manager 通过 create_agent 串行创建 8 个职能 Worker + 独立 TeamLeader Worker（carsales-demo-leader），create_team 组建 carsales-demo Team，对应框架 Manager → TeamLeader → Worker 分层语义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任务拆解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用户在 Team 房间 @team_leader_name 提交销售任务；TeamLeader 按任务特性拆解并调度对应 Worker（按需调用），对应框架 TeamLeader 的指令分解与任务分配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上下文传递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Agent 间经 Matrix Room 事件流传递任务上下文与中间结论（画像/分级/策略/报价/审批状态），对应框架 Matrix 协作架构 + TeamHarness 的 Team/Room/Task 上下文语义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协同执行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Worker 运行时（QwenPaw）调用各自 Skill 与工具网关执行，低风险自动、高风险审批，对应框架 TeamHarness 统一协作协议（Event/Status、File/Tool 引用）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状态追踪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线索/订单/审批状态经工具网关写入 Trace 与 actions，TeamLeader 汇总闭环报告，对应框架 Event/Status 任务事件与状态 + Nacos AI Registry 实例状态回写（Desired → Applied → Status）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人机协同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高风险动作（超授权优惠 L2 / 征信 L2 / 订单确认 L2 / 合同 L3）人工审批与回滚，任何时刻可 @mention 介入，对应框架 Human-in-the-loop 设计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Skill 与工具集成：销售能力工程体系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SKILLS &amp;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13 个 Skill 固化销售 SOP + 33 个工具函数覆盖 11 类企业系统
MCP 等价契约统一连接，迁移 MCP Server 只需协议适配，业务侧零改动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444752"/>
          <a:ext cx="11183112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691640"/>
                <a:gridCol w="2377440"/>
                <a:gridCol w="2926080"/>
                <a:gridCol w="2496312"/>
              </a:tblGrid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Skill 名称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用途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输入 / 输出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失败处理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lead-fusion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线索归并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多渠道会话合并去重分级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输入：会话列表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输出：合并线索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缺客户 ID 启发式归并转人工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profile-building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画像构建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结构化画像 + 置信度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输入：会话 + 历史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输出：画像 + 证据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历史为空置信度上限 0.6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intent-scoring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意图识别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信号字典打分与分级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输入：画像 + 信号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输出：意向度 + 优先级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信号不足降级 nurture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car-recommendation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车型推荐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按画像匹配候选车型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输入：画像 + 库存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输出：对比矩阵 + 理由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知识不足不编造参数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quote-pricing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报价优惠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政策内报价与优惠审批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输入：政策 + 客户等级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输出：报价单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超授权自动转 L2 审批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negotiation-guard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议价风控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让步轨迹与底线守护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输入：报价 + 已让步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输出：让步决策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触底即停转人工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test-drive-booking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试驾预约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档期查询预约与回滚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输入：客户 + 门店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输出：预约单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失败重试推荐替代档期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finance-plan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金融方案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方案对比与征信审批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输入：成交价 + 期数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输出：方案对比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未授权不发起征信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order-safe-execute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订单执行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幂等 + 审批门禁 + 回滚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输入：报价 + 确认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输出：订单状态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审批驳回回滚草稿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case-mining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案例沉淀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闭环复盘脱敏入库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输入：报告 + Trace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输出：结构化案例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证据不足仅沉淀摘要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deal-memory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记忆检索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案例 + 客户记忆 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输入：查询 + 客户 ID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输出：Top-N 证据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检索失败降级标注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907024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2937"/>
                </a:solidFill>
                <a:latin typeface="Microsoft YaHei"/>
                <a:ea typeface="Microsoft YaHei"/>
              </a:rPr>
              <a:t>双层 Skill 结构：基础云能力复用阿里云官方用云 Skills（模型调用 / 短信触达 / 证据归档）不重复造轮子；业务层自研 13 个 Skill 聚焦销售场景（含 sms-approval-alert + 官方短信触达 Skill）。</a:t>
            </a: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766E"/>
                </a:solidFill>
                <a:latin typeface="Microsoft YaHei"/>
                <a:ea typeface="Microsoft YaHei"/>
              </a:rPr>
              <a:t>复用价值：每个 Skill 按 10 字段模板定义（含调用条件 / 依赖工具 / 权限与安全 / 复用价值），可跨 Agent、跨场景复用，支持版本化与灰度发布（Nacos AI Registry）。（完整定义见附录 B）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工具集成：统一连接企业系统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用统一接口契约屏蔽企业系统差异：未来迁移 MCP Server 只需协议适配，业务侧零改动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2834640" cy="3108960"/>
          </a:xfrm>
          <a:prstGeom prst="roundRect">
            <a:avLst>
              <a:gd name="adj" fmla="val 7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24688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E40AF"/>
                </a:solidFill>
                <a:latin typeface="Microsoft YaHei"/>
                <a:ea typeface="Microsoft YaHei"/>
              </a:rPr>
              <a:t>Agent / Skill 层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· 能力抽象与任务编排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· 按 Skill 契约调用工具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· 不感知具体系统实现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56432" y="3017520"/>
            <a:ext cx="566928" cy="457200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33087" y="1691640"/>
            <a:ext cx="3931920" cy="3108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1828800"/>
            <a:ext cx="35661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E40AF"/>
                </a:solidFill>
                <a:latin typeface="Microsoft YaHei"/>
                <a:ea typeface="Microsoft YaHei"/>
              </a:rPr>
              <a:t>Higress AI 网关 + MCP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· 统一入口 · 鉴权 · 路由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· 限流（防工具滥用）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· 参数 Schema / 返回结构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· 审计日志 · 失败重试 · 幂等控制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183879" y="3017520"/>
            <a:ext cx="566928" cy="457200"/>
          </a:xfrm>
          <a:prstGeom prst="rightArrow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869680" y="1691640"/>
            <a:ext cx="2816352" cy="3108960"/>
          </a:xfrm>
          <a:prstGeom prst="roundRect">
            <a:avLst>
              <a:gd name="adj" fmla="val 7000"/>
            </a:avLst>
          </a:prstGeom>
          <a:solidFill>
            <a:srgbClr val="ECFDF5"/>
          </a:solidFill>
          <a:ln w="1524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18288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Microsoft YaHei"/>
                <a:ea typeface="Microsoft YaHei"/>
              </a:rPr>
              <a:t>企业系统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286000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0" y="2286000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</a:rPr>
              <a:t>CRM 客户关系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51008" y="2286000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51008" y="2286000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</a:rPr>
              <a:t>库存 / DMS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2852928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2852928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</a:rPr>
              <a:t>金融审批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51008" y="2852928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51008" y="2852928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</a:rPr>
              <a:t>保险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3419856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3419856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</a:rPr>
              <a:t>合同系统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51008" y="3419856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51008" y="3419856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</a:rPr>
              <a:t>企业微信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120640"/>
            <a:ext cx="11183112" cy="96012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120640"/>
            <a:ext cx="107899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接口契约标准化：</a:t>
            </a: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工具定义名称、调用入口、参数 Schema、返回结构、权限范围与审计记录；工具调用链按「工具.函数」命名空间组织并预置 future_mcp_mapping，迁移 MCP Server 仅需协议适配，业务 Skill 与 Agent 零改动。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全链路可观测：持续评估与优化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OBSERVABILITY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自主成交的关键不是无限自动化，而是让每一步可验证、可审计、可回放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269748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" y="1719072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700784"/>
            <a:ext cx="21945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Agent 推理轨迹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1214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意图识别 / 策略生成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的推理过程留痕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46704" y="1554480"/>
            <a:ext cx="269748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1296" y="1719072"/>
            <a:ext cx="82296" cy="2743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5888" y="1700784"/>
            <a:ext cx="21945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Skill 调用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1214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调用条件 · 输入输出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成功率与耗时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1554480"/>
            <a:ext cx="269748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79" y="1719072"/>
            <a:ext cx="82296" cy="2743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00784"/>
            <a:ext cx="21945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MCP 工具执行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1214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企业系统调用审计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异常与降级记录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4272" y="1554480"/>
            <a:ext cx="269748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4" y="1719072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3456" y="1700784"/>
            <a:ext cx="21945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RAG 检索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1214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检索命中与证据引用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回答可溯源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310128"/>
            <a:ext cx="5440680" cy="2286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47472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数据类型（OTel GenAI 语义）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· Trace：Agent / Skill / MCP / RAG / LLM Span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· Log：决策依据 / 失败原因 / 权限与审批事件（TraceId 关联）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· Metrics：会话数 / 时延 / Token 消耗 / 工具成功率
· Audit：高风险动作结构化轨迹（append-only，TraceId 关联，可按 approval_id 筛选）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5352" y="3310128"/>
            <a:ext cx="5440680" cy="2286000"/>
          </a:xfrm>
          <a:prstGeom prst="roundRect">
            <a:avLst>
              <a:gd name="adj" fmla="val 7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47472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F766E"/>
                </a:solidFill>
                <a:latin typeface="Microsoft YaHei"/>
                <a:ea typeface="Microsoft YaHei"/>
              </a:rPr>
              <a:t>应用场景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· 在线监控与告警：异常链路实时发现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· 离线评估：LLM-as-Judge / 规则评估量化效果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· 评估结果回流 Dataset，驱动 Prompt / Skill 迭代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760720"/>
            <a:ext cx="11183112" cy="658368"/>
          </a:xfrm>
          <a:prstGeom prst="roundRect">
            <a:avLst>
              <a:gd name="adj" fmla="val 7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760720"/>
            <a:ext cx="107899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40AF"/>
                </a:solidFill>
                <a:latin typeface="Microsoft YaHei"/>
                <a:ea typeface="Microsoft YaHei"/>
              </a:rPr>
              <a:t>落地路线：</a:t>
            </a: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开源自建 LoongSuite + AgentScope Studio（OTel 自动埋点 + 可视化 Trace / Agent 评估）；生产环境平滑迁移阿里云 AgentLoop（Agent-as-a-Judge 持续优化）。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可行性与落地计划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FEASIBILITY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当前进展：方案设计 + 可复现证据 + Demo 可运行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5532120" cy="2880360"/>
          </a:xfrm>
          <a:prstGeom prst="roundRect">
            <a:avLst>
              <a:gd name="adj" fmla="val 7000"/>
            </a:avLst>
          </a:prstGeom>
          <a:solidFill>
            <a:srgbClr val="ECFDF5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00200"/>
            <a:ext cx="5532120" cy="5120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00200"/>
            <a:ext cx="55321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初赛已实现 · V0.2（证据可复现）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286000"/>
            <a:ext cx="50292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✓ 8 Agent（附录 A 8 字段）+ 13 Skill（附录 B 10 字段）+ AgentTeams 真框架 3 场景一天全闭环（11 容器 v1.1.2 · 8/16 单日）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✓ HTTP mock 工具网关：33 工具函数(11 类系统) · 4 场景覆盖（含 DEAL-2004 复合联动） · MCP 等价契约 + 三个 LLM 决策点(审批门禁+车型推荐+工具调用顺序)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✓ 3 场景端到端业务闭环：审批 / 回滚 / 议价底线 / 案例入库（DEAL-2004 复合联动另经自检与故障注入覆盖）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✓ 可复现证据：自检 87/87 断言 + 三个 LLM 决策点（审批三安全分支 / 车型推荐 / 工具顺序）+ 全链路 Trace 留痕 + 评估得分 1.0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✓ AgentTeams 真框架跑通：3 场景全闭环 · 24 DAG 节点全绿 · 116 次工具调用 100% 成功 · 4 类真实故障代码级自愈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1600200"/>
            <a:ext cx="5532120" cy="2880360"/>
          </a:xfrm>
          <a:prstGeom prst="roundRect">
            <a:avLst>
              <a:gd name="adj" fmla="val 7000"/>
            </a:avLst>
          </a:prstGeom>
          <a:solidFill>
            <a:srgbClr val="EFF6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3912" y="1600200"/>
            <a:ext cx="5532120" cy="5120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1600200"/>
            <a:ext cx="55321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开放 / 开源计划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2286000"/>
            <a:ext cx="50292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→ 13 Skill + MCP 契约 + pgvector PoC + 故障注入框架全开放
→ 真实 4S 店 pilot · 社区共建 · 跨行业迁移（房产/保险/金融）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→ 多模型路由与调度策略优化 · Agent/Skill/LLM 层可观测 Span 补齐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→ 全链路可观测：LoongSuite / AgentScope Studio + 评估回流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→ 量化指标沉淀：线索转化率 / 成交周期 / 工具成功率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90288"/>
            <a:ext cx="11183112" cy="6035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590288"/>
            <a:ext cx="107899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✓ 自检 87/87 断言 · 4 场景覆盖（含 DEAL-2004 复合联动）
✓ 116 次工具调用 100% 成功 · 35 项可复现证据
✓ Demo 前端可运行 · L2 审批/回滚全验证</a:t>
            </a: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03520"/>
            <a:ext cx="11183112" cy="822960"/>
          </a:xfrm>
          <a:prstGeom prst="roundRect">
            <a:avLst>
              <a:gd name="adj" fmla="val 7000"/>
            </a:avLst>
          </a:prstGeom>
          <a:solidFill>
            <a:srgbClr val="FFFBEB"/>
          </a:solidFill>
          <a:ln w="9525">
            <a:solidFill>
              <a:srgbClr val="F3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7899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45309"/>
                </a:solidFill>
                <a:latin typeface="Microsoft YaHei"/>
                <a:ea typeface="Microsoft YaHei"/>
              </a:rPr>
              <a:t>后续路线图：真实系统接入 → 生产级风控 → 跨行业复制
初赛聚焦 mock 环境任务级自主闭环（真 AgentTeams 框架 + 可复现断言）</a:t>
            </a:r>
            <a:r>
              <a:rPr sz="1100" b="0">
                <a:solidFill>
                  <a:srgbClr val="B45309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Microsoft YaHei"/>
              </a:defRPr>
            </a:pPr>
            <a:r>
              <a:t>安全边界与风控：L0-L3 风险分级 × 审批门禁 × 审计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  <a:latin typeface="Microsoft YaHei"/>
              </a:defRPr>
            </a:pPr>
            <a:r>
              <a:t>BOUNDARY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风险分级定边界 · 审批门禁管高危 · 决策与执行分离 · 审计全程留痕
L0 自动 → L1 通知 → L2 审批 → L3 转人工 · 议价底线守护 · 超授权自动停止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502920" y="1554480"/>
          <a:ext cx="5562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560320"/>
                <a:gridCol w="2179320"/>
              </a:tblGrid>
              <a:tr h="32918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风险等级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动作类型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处置策略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6A34A"/>
                          </a:solidFill>
                          <a:latin typeface="Microsoft YaHei"/>
                        </a:defRPr>
                      </a:pPr>
                      <a:r>
                        <a:t>L0 自动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线索归集 / 画像 / 意图 / 策略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自动执行，无需审批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891A2"/>
                          </a:solidFill>
                          <a:latin typeface="Microsoft YaHei"/>
                        </a:defRPr>
                      </a:pPr>
                      <a:r>
                        <a:t>L1 通知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试驾预约 / 优惠匹配(授权内)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自动执行 + 通知留痕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A580C"/>
                          </a:solidFill>
                          <a:latin typeface="Microsoft YaHei"/>
                        </a:defRPr>
                      </a:pPr>
                      <a:r>
                        <a:t>L2 审批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超授权优惠 / 征信 / 订单确认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LLM 审批 approve/reject/pending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DC2626"/>
                          </a:solidFill>
                          <a:latin typeface="Microsoft YaHei"/>
                        </a:defRPr>
                      </a:pPr>
                      <a:r>
                        <a:t>L3 人工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合同签署 / 大额退款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人工确认 + 双签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6245352" y="1554480"/>
            <a:ext cx="54406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73952" y="1737360"/>
            <a:ext cx="4983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Microsoft YaHei"/>
              </a:defRPr>
            </a:pPr>
            <a:r>
              <a:t>三安全分支（端到端验证）</a:t>
            </a:r>
            <a:br/>
            <a:r>
              <a:t>① DEAL-2001 reject → rollback_order（rolled_back）</a:t>
            </a:r>
            <a:br/>
            <a:r>
              <a:t>    超授权优惠 8.5 折→LLM 推理 reject→订单回滚</a:t>
            </a:r>
            <a:br/>
            <a:r>
              <a:t>② DEAL-2002 approve → confirm_order（won）</a:t>
            </a:r>
            <a:br/>
            <a:r>
              <a:t>    征信审批→LLM 推理 approve→订单确认→成交</a:t>
            </a:r>
            <a:br/>
            <a:r>
              <a:t>③ DEAL-2003 pending → human_handoff</a:t>
            </a:r>
            <a:br/>
            <a:r>
              <a:t>    预算未明→LLM 推理 pending→转人工（禁止默认放行）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310128"/>
            <a:ext cx="556260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3493008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Microsoft YaHei"/>
              </a:defRPr>
            </a:pPr>
            <a:r>
              <a:t>三个 LLM 自主决策点（百炼 qwen-plus）</a:t>
            </a:r>
            <a:br/>
            <a:r>
              <a:t>① 审批门禁：approve/reject/pending（忠实上下文，不操纵）</a:t>
            </a:r>
            <a:br/>
            <a:r>
              <a:t>② 车型推荐：fit_confidence + risk_flag（DEAL-2002 诚实标 mismatch）</a:t>
            </a:r>
            <a:br/>
            <a:r>
              <a:t>③ 工具调用顺序：4 工具先后由 LLM 自主规划</a:t>
            </a:r>
            <a:br/>
            <a:r>
              <a:t>    DEAL-2003 把 get_policy 提前到 check_stock 之前</a:t>
            </a:r>
            <a:br/>
            <a:r>
              <a:t>decision_source 诚实标注 llm / fallback_config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45352" y="3310128"/>
            <a:ext cx="54406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3493008"/>
            <a:ext cx="4983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Microsoft YaHei"/>
              </a:defRPr>
            </a:pPr>
            <a:r>
              <a:t>append-only 审计轨迹· 6/4/4 条 action（DEAL-2001/2002/2003）· 全量 trace_id 关联，可按 approval_id / order_id 筛选· 重启不丢失（JSONL 持久化 + OSS 归档）· OTel 运行时 39 span + 三层 trace 树 261 span（Agent→Skill→Tool，挂载率 100%，GenAI semconv）· 决策与执行分离：reject 只标记 rollback_requested    由执行层显式 rollback_order</a:t>
            </a:r>
            <a:br/>
            <a:r>
              <a:t/>
            </a:r>
            <a:br/>
            <a:r>
              <a:t/>
            </a:r>
            <a:br/>
            <a:r>
              <a:t/>
            </a:r>
            <a:br/>
            <a:r>
              <a:t/>
            </a:r>
            <a:br/>
            <a:r>
              <a:t/>
            </a:r>
            <a:br/>
            <a: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4831040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安全设计原则：决策与执行分离 · 高风险禁止默认放行 · 审计 append-only 可回溯 · LLM 忠实上下文不操纵决策方向 · 无 key 降级 fallback_config 仍 ALL PASS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